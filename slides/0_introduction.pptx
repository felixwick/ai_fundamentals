
<file path=[Content_Types].xml><?xml version="1.0" encoding="utf-8"?>
<Types xmlns="http://schemas.openxmlformats.org/package/2006/content-types">
  <Default Extension="emf" ContentType="image/x-emf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256" r:id="rId2"/>
    <p:sldId id="262" r:id="rId3"/>
    <p:sldId id="268" r:id="rId4"/>
    <p:sldId id="266" r:id="rId5"/>
    <p:sldId id="777" r:id="rId6"/>
    <p:sldId id="258" r:id="rId7"/>
    <p:sldId id="257" r:id="rId8"/>
    <p:sldId id="269" r:id="rId9"/>
    <p:sldId id="271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23/02/2026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23/02/2026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23/02/2026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tiff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python/environments" TargetMode="External"/><Relationship Id="rId2" Type="http://schemas.openxmlformats.org/officeDocument/2006/relationships/hyperlink" Target="https://docs.python.org/3/tutorial/venv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code.visualstudio.com/docs/datascience/jupyter-notebooks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Fundamentals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44F7-861D-5F7F-A3C4-DC4382499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Main Areas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r>
              <a:rPr lang="de-DE" dirty="0"/>
              <a:t> (AI)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C8EC6-3F79-485E-71D3-142E1593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461BE-CBBC-633F-BF4F-AD6554B61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641" y="2211647"/>
            <a:ext cx="5603963" cy="921243"/>
          </a:xfrm>
          <a:prstGeom prst="rect">
            <a:avLst/>
          </a:prstGeom>
        </p:spPr>
      </p:pic>
      <p:pic>
        <p:nvPicPr>
          <p:cNvPr id="6" name="Picture 5" descr="A collage of many images&#10;&#10;Description automatically generated">
            <a:extLst>
              <a:ext uri="{FF2B5EF4-FFF2-40B4-BE49-F238E27FC236}">
                <a16:creationId xmlns:a16="http://schemas.microsoft.com/office/drawing/2014/main" id="{029F3378-177B-1DEF-9328-6E0FCD05D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38" y="4525129"/>
            <a:ext cx="2078016" cy="20780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5A4FFF-1D36-AC9C-C62A-4BAEB008B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278" y="2762516"/>
            <a:ext cx="1841655" cy="19987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AD89D0-9E61-6800-832F-2640E2937535}"/>
              </a:ext>
            </a:extLst>
          </p:cNvPr>
          <p:cNvSpPr txBox="1"/>
          <p:nvPr/>
        </p:nvSpPr>
        <p:spPr>
          <a:xfrm>
            <a:off x="1005641" y="1688427"/>
            <a:ext cx="20638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tabular data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7F4D34-236A-5C86-228F-99672208DBD8}"/>
              </a:ext>
            </a:extLst>
          </p:cNvPr>
          <p:cNvSpPr txBox="1"/>
          <p:nvPr/>
        </p:nvSpPr>
        <p:spPr>
          <a:xfrm>
            <a:off x="348339" y="4001909"/>
            <a:ext cx="26804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computer vision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19B08-DDB6-BE91-ADEA-700B82E1A498}"/>
              </a:ext>
            </a:extLst>
          </p:cNvPr>
          <p:cNvSpPr txBox="1"/>
          <p:nvPr/>
        </p:nvSpPr>
        <p:spPr>
          <a:xfrm>
            <a:off x="7773006" y="2239296"/>
            <a:ext cx="2830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language models</a:t>
            </a:r>
            <a:endParaRPr lang="en-GB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25F8-AE37-1ACB-BA8E-33CFFD038092}"/>
              </a:ext>
            </a:extLst>
          </p:cNvPr>
          <p:cNvSpPr txBox="1"/>
          <p:nvPr/>
        </p:nvSpPr>
        <p:spPr>
          <a:xfrm>
            <a:off x="4423421" y="3517961"/>
            <a:ext cx="12922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control</a:t>
            </a:r>
            <a:endParaRPr lang="en-GB" sz="2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8E3C93-9BB5-54EC-0C68-41D872F0A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3421" y="4041181"/>
            <a:ext cx="2750387" cy="13432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545444-0F88-D652-43F5-7AB41F39A7A8}"/>
              </a:ext>
            </a:extLst>
          </p:cNvPr>
          <p:cNvSpPr txBox="1"/>
          <p:nvPr/>
        </p:nvSpPr>
        <p:spPr>
          <a:xfrm>
            <a:off x="5400879" y="5769471"/>
            <a:ext cx="5506279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/>
              <a:t>all </a:t>
            </a:r>
            <a:r>
              <a:rPr lang="de-DE" sz="2200" dirty="0" err="1"/>
              <a:t>empowered</a:t>
            </a:r>
            <a:r>
              <a:rPr lang="de-DE" sz="2200" dirty="0"/>
              <a:t> by one key component: learning from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</a:t>
            </a:r>
            <a:r>
              <a:rPr lang="de-DE" sz="2200" dirty="0" err="1"/>
              <a:t>achine</a:t>
            </a:r>
            <a:r>
              <a:rPr lang="de-DE" sz="2200" dirty="0"/>
              <a:t> Learning (ML)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120484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CA917D1-CFE8-CFA0-EC29-D31E03982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When to Use AI/ML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10007-F622-5B4B-B5A0-241B785D7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3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4151AC-16C9-C1FF-7D4B-9897133BE633}"/>
              </a:ext>
            </a:extLst>
          </p:cNvPr>
          <p:cNvSpPr txBox="1"/>
          <p:nvPr/>
        </p:nvSpPr>
        <p:spPr>
          <a:xfrm>
            <a:off x="838200" y="2016445"/>
            <a:ext cx="37673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automation</a:t>
            </a:r>
          </a:p>
          <a:p>
            <a:r>
              <a:rPr lang="en-GB" sz="2400" dirty="0"/>
              <a:t>too complex for rules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1C67E1-0656-937B-6797-538377633F26}"/>
              </a:ext>
            </a:extLst>
          </p:cNvPr>
          <p:cNvSpPr txBox="1"/>
          <p:nvPr/>
        </p:nvSpPr>
        <p:spPr>
          <a:xfrm>
            <a:off x="6214111" y="2016445"/>
            <a:ext cx="430783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uncertainty</a:t>
            </a:r>
          </a:p>
          <a:p>
            <a:r>
              <a:rPr lang="en-GB" sz="2400" dirty="0"/>
              <a:t>too complex for humans</a:t>
            </a:r>
          </a:p>
        </p:txBody>
      </p:sp>
      <p:pic>
        <p:nvPicPr>
          <p:cNvPr id="8" name="Picture 2" descr="Alphafold-2 Brief Summary. How it works and what it means for… | by ...">
            <a:extLst>
              <a:ext uri="{FF2B5EF4-FFF2-40B4-BE49-F238E27FC236}">
                <a16:creationId xmlns:a16="http://schemas.microsoft.com/office/drawing/2014/main" id="{A734C35A-F9EC-16AF-C578-6C4A860B7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4111" y="3192255"/>
            <a:ext cx="4307839" cy="2423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CD0BC8-8653-739C-7ACE-3DB4279978A0}"/>
              </a:ext>
            </a:extLst>
          </p:cNvPr>
          <p:cNvSpPr txBox="1"/>
          <p:nvPr/>
        </p:nvSpPr>
        <p:spPr>
          <a:xfrm>
            <a:off x="6096001" y="5700575"/>
            <a:ext cx="6005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protein structure predictions, demand forecasting, …</a:t>
            </a:r>
          </a:p>
        </p:txBody>
      </p:sp>
      <p:pic>
        <p:nvPicPr>
          <p:cNvPr id="10" name="Picture 9" descr="A computer on a table&#10;&#10;Description automatically generated">
            <a:extLst>
              <a:ext uri="{FF2B5EF4-FFF2-40B4-BE49-F238E27FC236}">
                <a16:creationId xmlns:a16="http://schemas.microsoft.com/office/drawing/2014/main" id="{236AF176-CF90-9AEF-5F5A-62931A1F15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92255"/>
            <a:ext cx="3767320" cy="2423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A78324-008A-CDED-13FB-DBF4795BDAC2}"/>
              </a:ext>
            </a:extLst>
          </p:cNvPr>
          <p:cNvSpPr txBox="1"/>
          <p:nvPr/>
        </p:nvSpPr>
        <p:spPr>
          <a:xfrm>
            <a:off x="838200" y="5692867"/>
            <a:ext cx="376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object recognition, chat bot, 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CA6B1-3E7B-83D8-2B03-2A610283AD83}"/>
              </a:ext>
            </a:extLst>
          </p:cNvPr>
          <p:cNvSpPr txBox="1"/>
          <p:nvPr/>
        </p:nvSpPr>
        <p:spPr>
          <a:xfrm>
            <a:off x="10521950" y="4694111"/>
            <a:ext cx="1227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AlphaFold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5442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35F983-758A-EB88-9012-92F52DEF2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4</a:t>
            </a:fld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23A792F-00C8-7D7F-6BEC-906378FBE986}"/>
              </a:ext>
            </a:extLst>
          </p:cNvPr>
          <p:cNvGrpSpPr/>
          <p:nvPr/>
        </p:nvGrpSpPr>
        <p:grpSpPr>
          <a:xfrm>
            <a:off x="628650" y="742950"/>
            <a:ext cx="5467350" cy="5372100"/>
            <a:chOff x="218096" y="1278538"/>
            <a:chExt cx="5467350" cy="53721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8034507-EBF5-C8B0-E02C-648EBA958CA2}"/>
                </a:ext>
              </a:extLst>
            </p:cNvPr>
            <p:cNvSpPr/>
            <p:nvPr/>
          </p:nvSpPr>
          <p:spPr>
            <a:xfrm>
              <a:off x="218096" y="1278538"/>
              <a:ext cx="5467350" cy="537210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9D9A571-5F1B-A287-1366-448584434981}"/>
                </a:ext>
              </a:extLst>
            </p:cNvPr>
            <p:cNvSpPr/>
            <p:nvPr/>
          </p:nvSpPr>
          <p:spPr>
            <a:xfrm>
              <a:off x="1008671" y="2716812"/>
              <a:ext cx="3886200" cy="393382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F898E0-A5FF-7737-66AF-823C4CB0027D}"/>
                </a:ext>
              </a:extLst>
            </p:cNvPr>
            <p:cNvSpPr/>
            <p:nvPr/>
          </p:nvSpPr>
          <p:spPr>
            <a:xfrm>
              <a:off x="1675421" y="4097938"/>
              <a:ext cx="2552700" cy="25527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Deep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Learning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0D5185-9D95-297D-29A1-2586D8B69CF6}"/>
                </a:ext>
              </a:extLst>
            </p:cNvPr>
            <p:cNvSpPr txBox="1"/>
            <p:nvPr/>
          </p:nvSpPr>
          <p:spPr>
            <a:xfrm>
              <a:off x="2151671" y="3097812"/>
              <a:ext cx="16002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Machine Learning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AAA9D3-BD6B-71DE-CA94-73864BEDEEFC}"/>
                </a:ext>
              </a:extLst>
            </p:cNvPr>
            <p:cNvSpPr txBox="1"/>
            <p:nvPr/>
          </p:nvSpPr>
          <p:spPr>
            <a:xfrm>
              <a:off x="1999271" y="1627787"/>
              <a:ext cx="17811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Artificial Intelligence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52B53FA-A449-0AAB-DB4F-BAE16BB65419}"/>
              </a:ext>
            </a:extLst>
          </p:cNvPr>
          <p:cNvSpPr txBox="1"/>
          <p:nvPr/>
        </p:nvSpPr>
        <p:spPr>
          <a:xfrm>
            <a:off x="6634570" y="953699"/>
            <a:ext cx="44906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/>
              <a:t>blend of diverse components from different domains (statistics, optimization, computer science, …)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B3D8FE-44A8-3988-9D54-5D7977569E3A}"/>
              </a:ext>
            </a:extLst>
          </p:cNvPr>
          <p:cNvSpPr txBox="1"/>
          <p:nvPr/>
        </p:nvSpPr>
        <p:spPr>
          <a:xfrm>
            <a:off x="6634570" y="4148137"/>
            <a:ext cx="471923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DE" sz="2200" b="1" dirty="0"/>
              <a:t>Deep Learning</a:t>
            </a:r>
            <a:r>
              <a:rPr lang="en-DE" sz="2200" dirty="0"/>
              <a:t>:</a:t>
            </a:r>
            <a:r>
              <a:rPr lang="de-DE" sz="2200" dirty="0"/>
              <a:t> </a:t>
            </a:r>
            <a:r>
              <a:rPr lang="en-DE" sz="2200" dirty="0"/>
              <a:t>special kind of ML </a:t>
            </a:r>
            <a:r>
              <a:rPr lang="de-DE" sz="2200" dirty="0"/>
              <a:t>method</a:t>
            </a:r>
            <a:r>
              <a:rPr lang="en-DE" sz="2200" dirty="0"/>
              <a:t>s using </a:t>
            </a:r>
            <a:r>
              <a:rPr lang="en-DE" sz="2200" i="1" dirty="0"/>
              <a:t>deep</a:t>
            </a:r>
            <a:r>
              <a:rPr lang="en-DE" sz="2200" dirty="0"/>
              <a:t> neural networks</a:t>
            </a:r>
            <a:r>
              <a:rPr lang="en-GB" sz="2200" dirty="0"/>
              <a:t> (e.g., CNNs, transformers)</a:t>
            </a:r>
            <a:endParaRPr lang="en-DE" sz="2200" dirty="0"/>
          </a:p>
        </p:txBody>
      </p:sp>
    </p:spTree>
    <p:extLst>
      <p:ext uri="{BB962C8B-B14F-4D97-AF65-F5344CB8AC3E}">
        <p14:creationId xmlns:p14="http://schemas.microsoft.com/office/powerpoint/2010/main" val="365998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AC1E4-6AD7-8D09-5D38-21375316B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Machine</a:t>
            </a:r>
            <a:r>
              <a:rPr lang="de-DE" dirty="0"/>
              <a:t> Learning?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9B1B0-1661-F50C-4ACA-6DE3D65E4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l</a:t>
            </a:r>
            <a:r>
              <a:rPr lang="en-DE"/>
              <a:t>earning from </a:t>
            </a:r>
            <a:r>
              <a:rPr lang="de-DE" dirty="0" err="1"/>
              <a:t>e</a:t>
            </a:r>
            <a:r>
              <a:rPr lang="en-DE"/>
              <a:t>xperience/</a:t>
            </a:r>
            <a:r>
              <a:rPr lang="de-DE" dirty="0"/>
              <a:t>d</a:t>
            </a:r>
            <a:r>
              <a:rPr lang="en-DE"/>
              <a:t>ata</a:t>
            </a:r>
            <a:r>
              <a:rPr lang="de-DE" dirty="0"/>
              <a:t>: </a:t>
            </a:r>
            <a:r>
              <a:rPr lang="en-GB" dirty="0"/>
              <a:t>exploiting statistical dependencies with the aim of </a:t>
            </a:r>
            <a:r>
              <a:rPr lang="en-GB" b="1" dirty="0"/>
              <a:t>generalization </a:t>
            </a:r>
            <a:r>
              <a:rPr lang="en-GB" dirty="0"/>
              <a:t>to new data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training: </a:t>
            </a:r>
            <a:r>
              <a:rPr lang="en-DE" b="1"/>
              <a:t>ML </a:t>
            </a:r>
            <a:r>
              <a:rPr lang="en-DE" b="1" dirty="0"/>
              <a:t>algorithm + data = explicit algorithm</a:t>
            </a:r>
            <a:r>
              <a:rPr lang="en-GB" dirty="0"/>
              <a:t> (to be used later)</a:t>
            </a:r>
            <a:endParaRPr lang="en-DE" dirty="0"/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eduction of complexity and much better generalizability compared to handcrafted algorithms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a</a:t>
            </a:r>
            <a:r>
              <a:rPr lang="en-DE" dirty="0">
                <a:sym typeface="Wingdings" pitchFamily="2" charset="2"/>
              </a:rPr>
              <a:t>nalogy: </a:t>
            </a:r>
            <a:r>
              <a:rPr lang="en-GB" dirty="0"/>
              <a:t>Humans do not hit the ground running (storage capacity of DNA limited) but have learning capabilities.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A252D-C08C-169A-2929-AD29EAD7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29371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4C13FEC-ECD5-AC00-B8E2-8D8BC7A67351}"/>
              </a:ext>
            </a:extLst>
          </p:cNvPr>
          <p:cNvSpPr txBox="1"/>
          <p:nvPr/>
        </p:nvSpPr>
        <p:spPr>
          <a:xfrm>
            <a:off x="5289232" y="6125944"/>
            <a:ext cx="4831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unsupervised and reinforcement learning can both be cast as supervised-learning setup</a:t>
            </a:r>
          </a:p>
        </p:txBody>
      </p: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4BCAF0-0279-CF76-75E5-335A1CCBA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ED9B-DCB2-71E2-2E4D-F9BA5C5A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E29654-4CEA-778A-6D2C-A36510E39CE1}"/>
              </a:ext>
            </a:extLst>
          </p:cNvPr>
          <p:cNvSpPr/>
          <p:nvPr/>
        </p:nvSpPr>
        <p:spPr>
          <a:xfrm>
            <a:off x="440024" y="1892974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E633E2-31DD-26F1-2171-B10983A1AF11}"/>
              </a:ext>
            </a:extLst>
          </p:cNvPr>
          <p:cNvSpPr/>
          <p:nvPr/>
        </p:nvSpPr>
        <p:spPr>
          <a:xfrm>
            <a:off x="5743658" y="1888233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930439F-732D-A050-F112-B89DAAF7482F}"/>
              </a:ext>
            </a:extLst>
          </p:cNvPr>
          <p:cNvSpPr/>
          <p:nvPr/>
        </p:nvSpPr>
        <p:spPr>
          <a:xfrm>
            <a:off x="657738" y="1694854"/>
            <a:ext cx="2367029" cy="487680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Target Quantity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C5A28B-6CB2-3EFB-BFDD-D29B4F561BC5}"/>
              </a:ext>
            </a:extLst>
          </p:cNvPr>
          <p:cNvSpPr txBox="1"/>
          <p:nvPr/>
        </p:nvSpPr>
        <p:spPr>
          <a:xfrm>
            <a:off x="440024" y="2308294"/>
            <a:ext cx="44875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b="1" dirty="0"/>
              <a:t>known in training</a:t>
            </a:r>
            <a:r>
              <a:rPr lang="en-GB" sz="2000" dirty="0"/>
              <a:t>: labeled samples or observations from past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to be </a:t>
            </a:r>
            <a:r>
              <a:rPr lang="en-GB" sz="2000" b="1" dirty="0"/>
              <a:t>predicted</a:t>
            </a:r>
            <a:r>
              <a:rPr lang="en-GB" sz="2000" dirty="0"/>
              <a:t> for unknown cases (e.g., future values)</a:t>
            </a:r>
            <a:endParaRPr lang="en-US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945479-8ABF-B513-1072-9DB906CB5498}"/>
              </a:ext>
            </a:extLst>
          </p:cNvPr>
          <p:cNvSpPr/>
          <p:nvPr/>
        </p:nvSpPr>
        <p:spPr>
          <a:xfrm>
            <a:off x="5965726" y="1690688"/>
            <a:ext cx="2367029" cy="487680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Features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81EB55-0D1C-D3C2-EFBA-68AAD01E2FAC}"/>
              </a:ext>
            </a:extLst>
          </p:cNvPr>
          <p:cNvSpPr txBox="1"/>
          <p:nvPr/>
        </p:nvSpPr>
        <p:spPr>
          <a:xfrm>
            <a:off x="5743659" y="2322303"/>
            <a:ext cx="41888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(prepared) input information that is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correlated to target quantity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known at prediction time</a:t>
            </a:r>
          </a:p>
        </p:txBody>
      </p:sp>
      <p:pic>
        <p:nvPicPr>
          <p:cNvPr id="17" name="Picture 16" descr="A picture containing letter&#10;&#10;Description automatically generated">
            <a:extLst>
              <a:ext uri="{FF2B5EF4-FFF2-40B4-BE49-F238E27FC236}">
                <a16:creationId xmlns:a16="http://schemas.microsoft.com/office/drawing/2014/main" id="{57C91173-6B41-A004-0793-FD56A7D5502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951" y="4594699"/>
            <a:ext cx="2712816" cy="180854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BCC3403-11F9-12E9-BB00-17BD2E0585C0}"/>
              </a:ext>
            </a:extLst>
          </p:cNvPr>
          <p:cNvSpPr txBox="1"/>
          <p:nvPr/>
        </p:nvSpPr>
        <p:spPr>
          <a:xfrm>
            <a:off x="3239946" y="4250260"/>
            <a:ext cx="418881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Example: Spam Filtering</a:t>
            </a:r>
          </a:p>
          <a:p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classify emails as spam or no spam</a:t>
            </a:r>
          </a:p>
        </p:txBody>
      </p:sp>
      <p:sp>
        <p:nvSpPr>
          <p:cNvPr id="20" name="Rectangle: Rounded Corners 26">
            <a:extLst>
              <a:ext uri="{FF2B5EF4-FFF2-40B4-BE49-F238E27FC236}">
                <a16:creationId xmlns:a16="http://schemas.microsoft.com/office/drawing/2014/main" id="{BFA8F20B-1C26-C84B-3151-366D1D2D94EB}"/>
              </a:ext>
            </a:extLst>
          </p:cNvPr>
          <p:cNvSpPr/>
          <p:nvPr/>
        </p:nvSpPr>
        <p:spPr>
          <a:xfrm>
            <a:off x="3322683" y="507887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A6F309-49B9-A8E9-71F9-A6E1DCD55622}"/>
              </a:ext>
            </a:extLst>
          </p:cNvPr>
          <p:cNvSpPr txBox="1"/>
          <p:nvPr/>
        </p:nvSpPr>
        <p:spPr>
          <a:xfrm>
            <a:off x="3371664" y="5316067"/>
            <a:ext cx="2371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i="1" dirty="0"/>
              <a:t>use accordingly </a:t>
            </a:r>
            <a:r>
              <a:rPr lang="en-GB" sz="1600" b="1" i="1" dirty="0"/>
              <a:t>labeled emails as training set</a:t>
            </a:r>
          </a:p>
        </p:txBody>
      </p:sp>
      <p:sp>
        <p:nvSpPr>
          <p:cNvPr id="22" name="Rectangle: Rounded Corners 28">
            <a:extLst>
              <a:ext uri="{FF2B5EF4-FFF2-40B4-BE49-F238E27FC236}">
                <a16:creationId xmlns:a16="http://schemas.microsoft.com/office/drawing/2014/main" id="{CBA6CAB8-1E9D-E6BA-555C-631834EB6B63}"/>
              </a:ext>
            </a:extLst>
          </p:cNvPr>
          <p:cNvSpPr/>
          <p:nvPr/>
        </p:nvSpPr>
        <p:spPr>
          <a:xfrm>
            <a:off x="5974443" y="507060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045D5-1844-8139-A08C-AF18A8FD1AD5}"/>
              </a:ext>
            </a:extLst>
          </p:cNvPr>
          <p:cNvSpPr txBox="1"/>
          <p:nvPr/>
        </p:nvSpPr>
        <p:spPr>
          <a:xfrm>
            <a:off x="5974442" y="5110022"/>
            <a:ext cx="2420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information like occurrence of specific words or email length as </a:t>
            </a:r>
            <a:r>
              <a:rPr lang="en-GB" sz="1600" b="1" dirty="0"/>
              <a:t>features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873D9E-8D81-CD2B-5699-91DFC0C32674}"/>
              </a:ext>
            </a:extLst>
          </p:cNvPr>
          <p:cNvGrpSpPr/>
          <p:nvPr/>
        </p:nvGrpSpPr>
        <p:grpSpPr>
          <a:xfrm>
            <a:off x="8509246" y="4157854"/>
            <a:ext cx="2442727" cy="2066108"/>
            <a:chOff x="9123943" y="5414911"/>
            <a:chExt cx="1737346" cy="1387231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CE38CB2-2382-0404-1DCA-6C55779B8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667" t="32140" r="31968" b="9384"/>
            <a:stretch/>
          </p:blipFill>
          <p:spPr>
            <a:xfrm>
              <a:off x="9123943" y="5414911"/>
              <a:ext cx="1737346" cy="1387231"/>
            </a:xfrm>
            <a:prstGeom prst="rect">
              <a:avLst/>
            </a:prstGeom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0EAA3D5-3D8F-1552-6F2D-E124F7562E3E}"/>
                </a:ext>
              </a:extLst>
            </p:cNvPr>
            <p:cNvSpPr/>
            <p:nvPr/>
          </p:nvSpPr>
          <p:spPr>
            <a:xfrm>
              <a:off x="9511990" y="5414911"/>
              <a:ext cx="947854" cy="2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sp>
        <p:nvSpPr>
          <p:cNvPr id="24" name="Rectangle: Rounded Corners 32">
            <a:extLst>
              <a:ext uri="{FF2B5EF4-FFF2-40B4-BE49-F238E27FC236}">
                <a16:creationId xmlns:a16="http://schemas.microsoft.com/office/drawing/2014/main" id="{2A91D2D4-5C6D-E9BD-8BEE-8373E038057C}"/>
              </a:ext>
            </a:extLst>
          </p:cNvPr>
          <p:cNvSpPr/>
          <p:nvPr/>
        </p:nvSpPr>
        <p:spPr>
          <a:xfrm>
            <a:off x="9821826" y="3696598"/>
            <a:ext cx="2346099" cy="1143206"/>
          </a:xfrm>
          <a:prstGeom prst="roundRect">
            <a:avLst>
              <a:gd name="adj" fmla="val 5316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features x1 and x2 </a:t>
            </a:r>
            <a:r>
              <a:rPr lang="en-GB" dirty="0">
                <a:solidFill>
                  <a:srgbClr val="C00000"/>
                </a:solidFill>
              </a:rPr>
              <a:t>spam</a:t>
            </a:r>
            <a:r>
              <a:rPr lang="en-GB" dirty="0">
                <a:solidFill>
                  <a:schemeClr val="tx1"/>
                </a:solidFill>
              </a:rPr>
              <a:t>,</a:t>
            </a:r>
            <a:r>
              <a:rPr lang="en-GB" dirty="0"/>
              <a:t> </a:t>
            </a:r>
            <a:r>
              <a:rPr lang="en-GB" dirty="0">
                <a:solidFill>
                  <a:srgbClr val="002060"/>
                </a:solidFill>
              </a:rPr>
              <a:t>no spam</a:t>
            </a:r>
          </a:p>
          <a:p>
            <a:pPr algn="ctr"/>
            <a:r>
              <a:rPr lang="en-GB" dirty="0">
                <a:solidFill>
                  <a:srgbClr val="00B050"/>
                </a:solidFill>
              </a:rPr>
              <a:t>decision boundary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46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8E70834-2630-CF53-46B9-4A5595D21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Used Programming Language: Python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C0850-2155-3201-EF3C-EFB7157E6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good compromise between rapid prototyping and production</a:t>
            </a:r>
          </a:p>
          <a:p>
            <a:r>
              <a:rPr lang="en-GB" dirty="0"/>
              <a:t>vast ecosystem</a:t>
            </a:r>
          </a:p>
          <a:p>
            <a:r>
              <a:rPr lang="en-GB" dirty="0"/>
              <a:t>very popular for data processing and ML: scientific Python stack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14FD3-2384-341A-0192-D9784F9F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8</a:t>
            </a:fld>
            <a:endParaRPr lang="en-GB"/>
          </a:p>
        </p:txBody>
      </p:sp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558D5A92-0B5B-7717-CB3F-2D03E1B52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9950" y="86276"/>
            <a:ext cx="1667700" cy="1827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undefined">
            <a:extLst>
              <a:ext uri="{FF2B5EF4-FFF2-40B4-BE49-F238E27FC236}">
                <a16:creationId xmlns:a16="http://schemas.microsoft.com/office/drawing/2014/main" id="{36547C17-E21D-FBD0-2391-DA367A29E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246" y="3932953"/>
            <a:ext cx="3394103" cy="1527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undefined">
            <a:extLst>
              <a:ext uri="{FF2B5EF4-FFF2-40B4-BE49-F238E27FC236}">
                <a16:creationId xmlns:a16="http://schemas.microsoft.com/office/drawing/2014/main" id="{2F91ED10-6934-AB74-9C86-B13644E90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3827" y="5270851"/>
            <a:ext cx="3230880" cy="130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undefined">
            <a:extLst>
              <a:ext uri="{FF2B5EF4-FFF2-40B4-BE49-F238E27FC236}">
                <a16:creationId xmlns:a16="http://schemas.microsoft.com/office/drawing/2014/main" id="{2EF0CA0C-5B15-EA29-7463-7C51B00F0F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761" y="5270851"/>
            <a:ext cx="2075592" cy="1117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undefined">
            <a:extLst>
              <a:ext uri="{FF2B5EF4-FFF2-40B4-BE49-F238E27FC236}">
                <a16:creationId xmlns:a16="http://schemas.microsoft.com/office/drawing/2014/main" id="{F1B7597C-6369-5514-7976-9E48A1316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1184" y="4390882"/>
            <a:ext cx="2984390" cy="547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yTorch is evolving fast. Listen to this podcast to find out how!">
            <a:extLst>
              <a:ext uri="{FF2B5EF4-FFF2-40B4-BE49-F238E27FC236}">
                <a16:creationId xmlns:a16="http://schemas.microsoft.com/office/drawing/2014/main" id="{CF13D292-AB33-3C1E-39B2-A7385966E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4651" y="4301787"/>
            <a:ext cx="3701716" cy="78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2720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31D7-F116-6FF9-9B2A-660AE0271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Programming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2A4C1-FFFD-3C44-E2CA-D30093EF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locally, best use</a:t>
            </a:r>
          </a:p>
          <a:p>
            <a:r>
              <a:rPr lang="en-GB" dirty="0"/>
              <a:t>a virtual environment to flexibly install packages (e.g., </a:t>
            </a:r>
            <a:r>
              <a:rPr lang="en-GB" dirty="0" err="1">
                <a:hlinkClick r:id="rId2"/>
              </a:rPr>
              <a:t>venv</a:t>
            </a:r>
            <a:r>
              <a:rPr lang="en-GB" dirty="0"/>
              <a:t>)</a:t>
            </a:r>
          </a:p>
          <a:p>
            <a:r>
              <a:rPr lang="en-GB" dirty="0"/>
              <a:t>an IDE of your choice (e.g., </a:t>
            </a:r>
            <a:r>
              <a:rPr lang="en-GB" dirty="0">
                <a:hlinkClick r:id="rId3"/>
              </a:rPr>
              <a:t>VS Code</a:t>
            </a:r>
            <a:r>
              <a:rPr lang="en-GB" dirty="0"/>
              <a:t>)</a:t>
            </a:r>
          </a:p>
          <a:p>
            <a:r>
              <a:rPr lang="en-GB" dirty="0"/>
              <a:t>both plain Python files or </a:t>
            </a:r>
            <a:r>
              <a:rPr lang="en-GB" dirty="0" err="1">
                <a:hlinkClick r:id="rId4"/>
              </a:rPr>
              <a:t>Jupyter</a:t>
            </a:r>
            <a:r>
              <a:rPr lang="en-GB" dirty="0">
                <a:hlinkClick r:id="rId4"/>
              </a:rPr>
              <a:t> notebooks</a:t>
            </a:r>
            <a:r>
              <a:rPr lang="en-GB" dirty="0"/>
              <a:t> are fine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cloud-based environments also fine (e.g., </a:t>
            </a:r>
            <a:r>
              <a:rPr lang="en-GB" dirty="0">
                <a:hlinkClick r:id="rId5"/>
              </a:rPr>
              <a:t>Google </a:t>
            </a:r>
            <a:r>
              <a:rPr lang="en-GB" dirty="0" err="1">
                <a:hlinkClick r:id="rId5"/>
              </a:rPr>
              <a:t>Colab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EB8C7-7F0B-BA44-36D2-4511056C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3728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6F3DDA-AA1C-74F2-B6BC-5D82FAA8EC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530724"/>
          </a:xfrm>
          <a:ln>
            <a:solidFill>
              <a:schemeClr val="bg2">
                <a:lumMod val="75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de-DE" sz="2600" b="1" dirty="0"/>
              <a:t>Part 1: Foundations 	    (Theory + </a:t>
            </a:r>
            <a:r>
              <a:rPr lang="de-DE" sz="2600" b="1" dirty="0" err="1"/>
              <a:t>Classical</a:t>
            </a:r>
            <a:r>
              <a:rPr lang="de-DE" sz="2600" b="1" dirty="0"/>
              <a:t> ML)</a:t>
            </a:r>
            <a:endParaRPr lang="en-GB" sz="26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de-DE" sz="2400" dirty="0"/>
              <a:t>AI/ML </a:t>
            </a:r>
            <a:r>
              <a:rPr lang="de-DE" sz="2400" dirty="0" err="1"/>
              <a:t>Overview</a:t>
            </a:r>
            <a:r>
              <a:rPr lang="de-DE" sz="2400" dirty="0"/>
              <a:t>		             </a:t>
            </a:r>
            <a:r>
              <a:rPr lang="de-DE" sz="1500" dirty="0"/>
              <a:t>Search &amp; </a:t>
            </a:r>
            <a:r>
              <a:rPr lang="de-DE" sz="1500" dirty="0" err="1"/>
              <a:t>Optimization</a:t>
            </a:r>
            <a:r>
              <a:rPr lang="de-DE" sz="1500" dirty="0"/>
              <a:t>, </a:t>
            </a:r>
            <a:r>
              <a:rPr lang="de-DE" sz="1500" dirty="0" err="1"/>
              <a:t>Supervised</a:t>
            </a:r>
            <a:r>
              <a:rPr lang="de-DE" sz="1500" dirty="0"/>
              <a:t> &amp; </a:t>
            </a:r>
            <a:r>
              <a:rPr lang="de-DE" sz="1500" dirty="0" err="1"/>
              <a:t>Unsupervised</a:t>
            </a:r>
            <a:r>
              <a:rPr lang="de-DE" sz="1500" dirty="0"/>
              <a:t> Learning</a:t>
            </a:r>
            <a:endParaRPr lang="en-GB" sz="15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de-DE" sz="2400" dirty="0"/>
              <a:t>Python &amp; </a:t>
            </a:r>
            <a:r>
              <a:rPr lang="de-DE" sz="2400" dirty="0" err="1"/>
              <a:t>scikit-learn</a:t>
            </a:r>
            <a:endParaRPr lang="en-GB" sz="12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de-DE" sz="2400" dirty="0"/>
              <a:t>Data and </a:t>
            </a:r>
            <a:r>
              <a:rPr lang="de-DE" sz="2400" dirty="0" err="1"/>
              <a:t>Preprocessing</a:t>
            </a:r>
            <a:endParaRPr lang="de-DE" sz="24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de-DE" sz="2400" dirty="0" err="1"/>
              <a:t>Supervised</a:t>
            </a:r>
            <a:r>
              <a:rPr lang="de-DE" sz="2400" dirty="0"/>
              <a:t> Learning	              </a:t>
            </a:r>
            <a:r>
              <a:rPr lang="de-DE" sz="1500" dirty="0"/>
              <a:t>Linear Models, K-</a:t>
            </a:r>
            <a:r>
              <a:rPr lang="de-DE" sz="1500" dirty="0" err="1"/>
              <a:t>Nearest</a:t>
            </a:r>
            <a:r>
              <a:rPr lang="de-DE" sz="1500" dirty="0"/>
              <a:t> </a:t>
            </a:r>
            <a:r>
              <a:rPr lang="de-DE" sz="1500" dirty="0" err="1"/>
              <a:t>Neighbors</a:t>
            </a:r>
            <a:r>
              <a:rPr lang="de-DE" sz="1500" dirty="0"/>
              <a:t>, Simple </a:t>
            </a:r>
            <a:r>
              <a:rPr lang="de-DE" sz="1500" dirty="0" err="1"/>
              <a:t>Neural</a:t>
            </a:r>
            <a:r>
              <a:rPr lang="de-DE" sz="1500" dirty="0"/>
              <a:t> Networks, </a:t>
            </a:r>
            <a:r>
              <a:rPr lang="de-DE" sz="1500" dirty="0" err="1"/>
              <a:t>Decision</a:t>
            </a:r>
            <a:r>
              <a:rPr lang="de-DE" sz="1500" dirty="0"/>
              <a:t> </a:t>
            </a:r>
            <a:r>
              <a:rPr lang="de-DE" sz="1500" dirty="0" err="1"/>
              <a:t>Trees</a:t>
            </a:r>
            <a:endParaRPr lang="de-DE" sz="1500" dirty="0"/>
          </a:p>
          <a:p>
            <a:pPr marL="457200" indent="-457200">
              <a:buFont typeface="+mj-lt"/>
              <a:buAutoNum type="arabicPeriod"/>
            </a:pPr>
            <a:r>
              <a:rPr lang="de-DE" sz="2400" dirty="0"/>
              <a:t>Model Evaluation &amp; </a:t>
            </a:r>
            <a:r>
              <a:rPr lang="de-DE" sz="2400" dirty="0" err="1"/>
              <a:t>Selection</a:t>
            </a:r>
            <a:endParaRPr lang="en-GB" sz="22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CB8FEE-6184-4A56-893A-894FD73784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4530725"/>
          </a:xfrm>
          <a:ln>
            <a:solidFill>
              <a:schemeClr val="bg2">
                <a:lumMod val="75000"/>
              </a:schemeClr>
            </a:solidFill>
          </a:ln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de-DE" sz="2600" b="1" dirty="0"/>
              <a:t>Part 2: </a:t>
            </a:r>
            <a:r>
              <a:rPr lang="de-DE" sz="2600" b="1" dirty="0" err="1"/>
              <a:t>Applications</a:t>
            </a:r>
            <a:r>
              <a:rPr lang="de-DE" sz="2600" b="1" dirty="0"/>
              <a:t>          (Domains + Deep Learning)</a:t>
            </a:r>
            <a:endParaRPr lang="en-GB" sz="26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de-DE" sz="2400" dirty="0" err="1"/>
              <a:t>Machine</a:t>
            </a:r>
            <a:r>
              <a:rPr lang="de-DE" sz="2400" dirty="0"/>
              <a:t> Learning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Tabular</a:t>
            </a:r>
            <a:r>
              <a:rPr lang="de-DE" sz="2400" dirty="0"/>
              <a:t> Data </a:t>
            </a:r>
            <a:r>
              <a:rPr lang="en-GB" sz="1500" dirty="0"/>
              <a:t>Random Forest, Gradient Boosting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de-DE" sz="2400" dirty="0"/>
              <a:t>Deep Learning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PyTorch</a:t>
            </a:r>
            <a:endParaRPr lang="en-GB" sz="24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GB" sz="2400" dirty="0"/>
              <a:t>Computer Vision		    </a:t>
            </a:r>
            <a:r>
              <a:rPr lang="de-DE" sz="1500" dirty="0" err="1"/>
              <a:t>Convolutional</a:t>
            </a:r>
            <a:r>
              <a:rPr lang="de-DE" sz="1500" dirty="0"/>
              <a:t> </a:t>
            </a:r>
            <a:r>
              <a:rPr lang="de-DE" sz="1500" dirty="0" err="1"/>
              <a:t>Neural</a:t>
            </a:r>
            <a:r>
              <a:rPr lang="de-DE" sz="1500" dirty="0"/>
              <a:t> Networks, Image Classification, </a:t>
            </a:r>
            <a:r>
              <a:rPr lang="de-DE" sz="1500" dirty="0" err="1"/>
              <a:t>Object</a:t>
            </a:r>
            <a:r>
              <a:rPr lang="de-DE" sz="1500" dirty="0"/>
              <a:t> </a:t>
            </a:r>
            <a:r>
              <a:rPr lang="de-DE" sz="1500" dirty="0" err="1"/>
              <a:t>Detection</a:t>
            </a:r>
            <a:r>
              <a:rPr lang="de-DE" sz="1500" dirty="0"/>
              <a:t>, Segmentation, Image Synthesis</a:t>
            </a:r>
            <a:endParaRPr lang="en-GB" sz="1500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de-DE" sz="2400" dirty="0"/>
              <a:t>NLP &amp; Large Language Models </a:t>
            </a:r>
            <a:r>
              <a:rPr lang="en-GB" sz="1500" dirty="0"/>
              <a:t>Transformers, </a:t>
            </a:r>
            <a:r>
              <a:rPr lang="de-DE" sz="1500" dirty="0"/>
              <a:t>Text Analysis, Generative AI, Chatbots, Agent Systems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de-DE" sz="2400" dirty="0"/>
              <a:t>Control &amp; Reinforcement Learning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557</Words>
  <Application>Microsoft Macintosh PowerPoint</Application>
  <PresentationFormat>Breitbild</PresentationFormat>
  <Paragraphs>99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AccordAlternate</vt:lpstr>
      <vt:lpstr>Aptos</vt:lpstr>
      <vt:lpstr>Aptos Display</vt:lpstr>
      <vt:lpstr>Arial</vt:lpstr>
      <vt:lpstr>Wingdings</vt:lpstr>
      <vt:lpstr>Office Theme</vt:lpstr>
      <vt:lpstr>Introduction</vt:lpstr>
      <vt:lpstr>Main Areas of Artificial Intelligence (AI)</vt:lpstr>
      <vt:lpstr>When to Use AI/ML</vt:lpstr>
      <vt:lpstr>PowerPoint-Präsentation</vt:lpstr>
      <vt:lpstr>What Is Machine Learning?</vt:lpstr>
      <vt:lpstr>PowerPoint-Präsentation</vt:lpstr>
      <vt:lpstr>Supervised Learning</vt:lpstr>
      <vt:lpstr>Used Programming Language: Python</vt:lpstr>
      <vt:lpstr>Programming Environments</vt:lpstr>
      <vt:lpstr>Course Schedule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36</cp:revision>
  <dcterms:created xsi:type="dcterms:W3CDTF">2025-01-08T09:27:30Z</dcterms:created>
  <dcterms:modified xsi:type="dcterms:W3CDTF">2026-02-23T13:42:03Z</dcterms:modified>
</cp:coreProperties>
</file>