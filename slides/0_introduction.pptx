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68" r:id="rId4"/>
    <p:sldId id="266" r:id="rId5"/>
    <p:sldId id="777" r:id="rId6"/>
    <p:sldId id="258" r:id="rId7"/>
    <p:sldId id="257" r:id="rId8"/>
    <p:sldId id="269" r:id="rId9"/>
    <p:sldId id="27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28" autoAdjust="0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01/03/2026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01/03/2026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01/03/2026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tiff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python/environments" TargetMode="External"/><Relationship Id="rId2" Type="http://schemas.openxmlformats.org/officeDocument/2006/relationships/hyperlink" Target="https://docs.python.org/3/tutorial/venv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" TargetMode="External"/><Relationship Id="rId4" Type="http://schemas.openxmlformats.org/officeDocument/2006/relationships/hyperlink" Target="https://code.visualstudio.com/docs/datascience/jupyter-notebooks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Fundamentals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Intelligence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44F7-861D-5F7F-A3C4-DC4382499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Main Areas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Intelligence</a:t>
            </a:r>
            <a:r>
              <a:rPr lang="de-DE" dirty="0"/>
              <a:t> (AI)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C8EC6-3F79-485E-71D3-142E1593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461BE-CBBC-633F-BF4F-AD6554B61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641" y="2211647"/>
            <a:ext cx="5603963" cy="921243"/>
          </a:xfrm>
          <a:prstGeom prst="rect">
            <a:avLst/>
          </a:prstGeom>
        </p:spPr>
      </p:pic>
      <p:pic>
        <p:nvPicPr>
          <p:cNvPr id="6" name="Picture 5" descr="A collage of many images&#10;&#10;Description automatically generated">
            <a:extLst>
              <a:ext uri="{FF2B5EF4-FFF2-40B4-BE49-F238E27FC236}">
                <a16:creationId xmlns:a16="http://schemas.microsoft.com/office/drawing/2014/main" id="{029F3378-177B-1DEF-9328-6E0FCD05D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38" y="4525129"/>
            <a:ext cx="2078016" cy="20780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5A4FFF-1D36-AC9C-C62A-4BAEB008B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278" y="2762516"/>
            <a:ext cx="1841655" cy="19987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AD89D0-9E61-6800-832F-2640E2937535}"/>
              </a:ext>
            </a:extLst>
          </p:cNvPr>
          <p:cNvSpPr txBox="1"/>
          <p:nvPr/>
        </p:nvSpPr>
        <p:spPr>
          <a:xfrm>
            <a:off x="1005641" y="1688427"/>
            <a:ext cx="2063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tabular data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F4D34-236A-5C86-228F-99672208DBD8}"/>
              </a:ext>
            </a:extLst>
          </p:cNvPr>
          <p:cNvSpPr txBox="1"/>
          <p:nvPr/>
        </p:nvSpPr>
        <p:spPr>
          <a:xfrm>
            <a:off x="348339" y="4001909"/>
            <a:ext cx="2680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computer vision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19B08-DDB6-BE91-ADEA-700B82E1A498}"/>
              </a:ext>
            </a:extLst>
          </p:cNvPr>
          <p:cNvSpPr txBox="1"/>
          <p:nvPr/>
        </p:nvSpPr>
        <p:spPr>
          <a:xfrm>
            <a:off x="7773006" y="2239296"/>
            <a:ext cx="2830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language models</a:t>
            </a:r>
            <a:endParaRPr lang="en-GB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CB25F8-AE37-1ACB-BA8E-33CFFD038092}"/>
              </a:ext>
            </a:extLst>
          </p:cNvPr>
          <p:cNvSpPr txBox="1"/>
          <p:nvPr/>
        </p:nvSpPr>
        <p:spPr>
          <a:xfrm>
            <a:off x="4423421" y="3517961"/>
            <a:ext cx="12922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control</a:t>
            </a:r>
            <a:endParaRPr lang="en-GB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8E3C93-9BB5-54EC-0C68-41D872F0A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3421" y="4041181"/>
            <a:ext cx="2750387" cy="13432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545444-0F88-D652-43F5-7AB41F39A7A8}"/>
              </a:ext>
            </a:extLst>
          </p:cNvPr>
          <p:cNvSpPr txBox="1"/>
          <p:nvPr/>
        </p:nvSpPr>
        <p:spPr>
          <a:xfrm>
            <a:off x="5400879" y="5769471"/>
            <a:ext cx="5506279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200" dirty="0"/>
              <a:t>all </a:t>
            </a:r>
            <a:r>
              <a:rPr lang="de-DE" sz="2200" dirty="0" err="1"/>
              <a:t>empowered</a:t>
            </a:r>
            <a:r>
              <a:rPr lang="de-DE" sz="2200" dirty="0"/>
              <a:t> by one key component: learning from </a:t>
            </a:r>
            <a:r>
              <a:rPr lang="de-DE" sz="2200" dirty="0" err="1"/>
              <a:t>data</a:t>
            </a:r>
            <a:r>
              <a:rPr lang="de-DE" sz="2200" dirty="0"/>
              <a:t> </a:t>
            </a:r>
            <a:r>
              <a:rPr lang="de-DE" sz="2200" dirty="0">
                <a:sym typeface="Wingdings" pitchFamily="2" charset="2"/>
              </a:rPr>
              <a:t> </a:t>
            </a:r>
            <a:r>
              <a:rPr lang="de-DE" sz="2200" dirty="0" err="1">
                <a:sym typeface="Wingdings" pitchFamily="2" charset="2"/>
              </a:rPr>
              <a:t>M</a:t>
            </a:r>
            <a:r>
              <a:rPr lang="de-DE" sz="2200" dirty="0" err="1"/>
              <a:t>achine</a:t>
            </a:r>
            <a:r>
              <a:rPr lang="de-DE" sz="2200" dirty="0"/>
              <a:t> Learning (ML)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12048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CA917D1-CFE8-CFA0-EC29-D31E0398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When to Use AI/ML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10007-F622-5B4B-B5A0-241B785D7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3A53-1B14-4784-A6BE-2DB6D72C8D95}" type="slidenum">
              <a:rPr lang="en-GB" smtClean="0"/>
              <a:t>3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4151AC-16C9-C1FF-7D4B-9897133BE633}"/>
              </a:ext>
            </a:extLst>
          </p:cNvPr>
          <p:cNvSpPr txBox="1"/>
          <p:nvPr/>
        </p:nvSpPr>
        <p:spPr>
          <a:xfrm>
            <a:off x="838200" y="2016445"/>
            <a:ext cx="37673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/>
              <a:t>automation</a:t>
            </a:r>
          </a:p>
          <a:p>
            <a:r>
              <a:rPr lang="en-GB" sz="2400" dirty="0"/>
              <a:t>too complex for rules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1C67E1-0656-937B-6797-538377633F26}"/>
              </a:ext>
            </a:extLst>
          </p:cNvPr>
          <p:cNvSpPr txBox="1"/>
          <p:nvPr/>
        </p:nvSpPr>
        <p:spPr>
          <a:xfrm>
            <a:off x="6214111" y="2016445"/>
            <a:ext cx="43078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/>
              <a:t>uncertainty</a:t>
            </a:r>
          </a:p>
          <a:p>
            <a:r>
              <a:rPr lang="en-GB" sz="2400" dirty="0"/>
              <a:t>too complex for humans</a:t>
            </a:r>
          </a:p>
        </p:txBody>
      </p:sp>
      <p:pic>
        <p:nvPicPr>
          <p:cNvPr id="8" name="Picture 2" descr="Alphafold-2 Brief Summary. How it works and what it means for… | by ...">
            <a:extLst>
              <a:ext uri="{FF2B5EF4-FFF2-40B4-BE49-F238E27FC236}">
                <a16:creationId xmlns:a16="http://schemas.microsoft.com/office/drawing/2014/main" id="{A734C35A-F9EC-16AF-C578-6C4A860B7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111" y="3192255"/>
            <a:ext cx="4307839" cy="2423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CD0BC8-8653-739C-7ACE-3DB4279978A0}"/>
              </a:ext>
            </a:extLst>
          </p:cNvPr>
          <p:cNvSpPr txBox="1"/>
          <p:nvPr/>
        </p:nvSpPr>
        <p:spPr>
          <a:xfrm>
            <a:off x="6096001" y="5700575"/>
            <a:ext cx="60054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protein structure predictions, demand forecasting, …</a:t>
            </a:r>
          </a:p>
        </p:txBody>
      </p:sp>
      <p:pic>
        <p:nvPicPr>
          <p:cNvPr id="10" name="Picture 9" descr="A computer on a table&#10;&#10;Description automatically generated">
            <a:extLst>
              <a:ext uri="{FF2B5EF4-FFF2-40B4-BE49-F238E27FC236}">
                <a16:creationId xmlns:a16="http://schemas.microsoft.com/office/drawing/2014/main" id="{236AF176-CF90-9AEF-5F5A-62931A1F15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92255"/>
            <a:ext cx="3767320" cy="2423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A78324-008A-CDED-13FB-DBF4795BDAC2}"/>
              </a:ext>
            </a:extLst>
          </p:cNvPr>
          <p:cNvSpPr txBox="1"/>
          <p:nvPr/>
        </p:nvSpPr>
        <p:spPr>
          <a:xfrm>
            <a:off x="838200" y="5692867"/>
            <a:ext cx="376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object recognition, chat bot, 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2CA6B1-3E7B-83D8-2B03-2A610283AD83}"/>
              </a:ext>
            </a:extLst>
          </p:cNvPr>
          <p:cNvSpPr txBox="1"/>
          <p:nvPr/>
        </p:nvSpPr>
        <p:spPr>
          <a:xfrm>
            <a:off x="10521950" y="4694111"/>
            <a:ext cx="1227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 err="1"/>
              <a:t>AlphaFold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5442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35F983-758A-EB88-9012-92F52DEF2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3A53-1B14-4784-A6BE-2DB6D72C8D95}" type="slidenum">
              <a:rPr lang="en-GB" smtClean="0"/>
              <a:t>4</a:t>
            </a:fld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23A792F-00C8-7D7F-6BEC-906378FBE986}"/>
              </a:ext>
            </a:extLst>
          </p:cNvPr>
          <p:cNvGrpSpPr/>
          <p:nvPr/>
        </p:nvGrpSpPr>
        <p:grpSpPr>
          <a:xfrm>
            <a:off x="628650" y="742950"/>
            <a:ext cx="5467350" cy="5372100"/>
            <a:chOff x="218096" y="1278538"/>
            <a:chExt cx="5467350" cy="53721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8034507-EBF5-C8B0-E02C-648EBA958CA2}"/>
                </a:ext>
              </a:extLst>
            </p:cNvPr>
            <p:cNvSpPr/>
            <p:nvPr/>
          </p:nvSpPr>
          <p:spPr>
            <a:xfrm>
              <a:off x="218096" y="1278538"/>
              <a:ext cx="5467350" cy="53721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9D9A571-5F1B-A287-1366-448584434981}"/>
                </a:ext>
              </a:extLst>
            </p:cNvPr>
            <p:cNvSpPr/>
            <p:nvPr/>
          </p:nvSpPr>
          <p:spPr>
            <a:xfrm>
              <a:off x="1008671" y="2716812"/>
              <a:ext cx="3886200" cy="393382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DF898E0-A5FF-7737-66AF-823C4CB0027D}"/>
                </a:ext>
              </a:extLst>
            </p:cNvPr>
            <p:cNvSpPr/>
            <p:nvPr/>
          </p:nvSpPr>
          <p:spPr>
            <a:xfrm>
              <a:off x="1675421" y="4097938"/>
              <a:ext cx="2552700" cy="25527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Deep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Learning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0D5185-9D95-297D-29A1-2586D8B69CF6}"/>
                </a:ext>
              </a:extLst>
            </p:cNvPr>
            <p:cNvSpPr txBox="1"/>
            <p:nvPr/>
          </p:nvSpPr>
          <p:spPr>
            <a:xfrm>
              <a:off x="2151671" y="3097812"/>
              <a:ext cx="1600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Machine Learning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4AAA9D3-BD6B-71DE-CA94-73864BEDEEFC}"/>
                </a:ext>
              </a:extLst>
            </p:cNvPr>
            <p:cNvSpPr txBox="1"/>
            <p:nvPr/>
          </p:nvSpPr>
          <p:spPr>
            <a:xfrm>
              <a:off x="1999271" y="1627787"/>
              <a:ext cx="17811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Artificial Intelligence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52B53FA-A449-0AAB-DB4F-BAE16BB65419}"/>
              </a:ext>
            </a:extLst>
          </p:cNvPr>
          <p:cNvSpPr txBox="1"/>
          <p:nvPr/>
        </p:nvSpPr>
        <p:spPr>
          <a:xfrm>
            <a:off x="6634570" y="953699"/>
            <a:ext cx="449062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blend of diverse components from different domains (statistics, optimization, computer science, …)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B3D8FE-44A8-3988-9D54-5D7977569E3A}"/>
              </a:ext>
            </a:extLst>
          </p:cNvPr>
          <p:cNvSpPr txBox="1"/>
          <p:nvPr/>
        </p:nvSpPr>
        <p:spPr>
          <a:xfrm>
            <a:off x="6634570" y="4148137"/>
            <a:ext cx="47192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DE" sz="2200" b="1" dirty="0"/>
              <a:t>Deep Learning</a:t>
            </a:r>
            <a:r>
              <a:rPr lang="en-DE" sz="2200" dirty="0"/>
              <a:t>:</a:t>
            </a:r>
            <a:r>
              <a:rPr lang="de-DE" sz="2200" dirty="0"/>
              <a:t> </a:t>
            </a:r>
            <a:r>
              <a:rPr lang="en-DE" sz="2200" dirty="0"/>
              <a:t>special kind of ML </a:t>
            </a:r>
            <a:r>
              <a:rPr lang="de-DE" sz="2200" dirty="0"/>
              <a:t>method</a:t>
            </a:r>
            <a:r>
              <a:rPr lang="en-DE" sz="2200" dirty="0"/>
              <a:t>s using </a:t>
            </a:r>
            <a:r>
              <a:rPr lang="en-DE" sz="2200" i="1" dirty="0"/>
              <a:t>deep</a:t>
            </a:r>
            <a:r>
              <a:rPr lang="en-DE" sz="2200" dirty="0"/>
              <a:t> neural networks</a:t>
            </a:r>
            <a:r>
              <a:rPr lang="en-GB" sz="2200" dirty="0"/>
              <a:t> (e.g., CNNs, transformers)</a:t>
            </a:r>
            <a:endParaRPr lang="en-DE" sz="2200" dirty="0"/>
          </a:p>
        </p:txBody>
      </p:sp>
    </p:spTree>
    <p:extLst>
      <p:ext uri="{BB962C8B-B14F-4D97-AF65-F5344CB8AC3E}">
        <p14:creationId xmlns:p14="http://schemas.microsoft.com/office/powerpoint/2010/main" val="365998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AC1E4-6AD7-8D09-5D38-21375316B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Machine</a:t>
            </a:r>
            <a:r>
              <a:rPr lang="de-DE" dirty="0"/>
              <a:t> Learning?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9B1B0-1661-F50C-4ACA-6DE3D65E4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l</a:t>
            </a:r>
            <a:r>
              <a:rPr lang="en-DE"/>
              <a:t>earning from </a:t>
            </a:r>
            <a:r>
              <a:rPr lang="de-DE" dirty="0" err="1"/>
              <a:t>e</a:t>
            </a:r>
            <a:r>
              <a:rPr lang="en-DE"/>
              <a:t>xperience/</a:t>
            </a:r>
            <a:r>
              <a:rPr lang="de-DE" dirty="0"/>
              <a:t>d</a:t>
            </a:r>
            <a:r>
              <a:rPr lang="en-DE"/>
              <a:t>ata</a:t>
            </a:r>
            <a:r>
              <a:rPr lang="de-DE" dirty="0"/>
              <a:t>: </a:t>
            </a:r>
            <a:r>
              <a:rPr lang="en-GB" dirty="0"/>
              <a:t>exploiting statistical dependencies with the aim of </a:t>
            </a:r>
            <a:r>
              <a:rPr lang="en-GB" b="1" dirty="0"/>
              <a:t>generalization </a:t>
            </a:r>
            <a:r>
              <a:rPr lang="en-GB" dirty="0"/>
              <a:t>to new data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GB" dirty="0"/>
              <a:t>training: </a:t>
            </a:r>
            <a:r>
              <a:rPr lang="en-DE" b="1"/>
              <a:t>ML </a:t>
            </a:r>
            <a:r>
              <a:rPr lang="en-DE" b="1" dirty="0"/>
              <a:t>algorithm + data = explicit algorithm</a:t>
            </a:r>
            <a:r>
              <a:rPr lang="en-GB" dirty="0"/>
              <a:t> (to be used later)</a:t>
            </a:r>
            <a:endParaRPr lang="en-DE" dirty="0"/>
          </a:p>
          <a:p>
            <a:pPr>
              <a:buFont typeface="Wingdings" pitchFamily="2" charset="2"/>
              <a:buChar char="à"/>
            </a:pPr>
            <a:r>
              <a:rPr lang="en-GB" dirty="0">
                <a:sym typeface="Wingdings" pitchFamily="2" charset="2"/>
              </a:rPr>
              <a:t> r</a:t>
            </a:r>
            <a:r>
              <a:rPr lang="en-DE" dirty="0">
                <a:sym typeface="Wingdings" pitchFamily="2" charset="2"/>
              </a:rPr>
              <a:t>eduction of complexity and much better generalizability compared to handcrafted algorithms</a:t>
            </a:r>
          </a:p>
          <a:p>
            <a:pPr marL="0" indent="0">
              <a:buNone/>
            </a:pPr>
            <a:endParaRPr lang="en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a</a:t>
            </a:r>
            <a:r>
              <a:rPr lang="en-DE" dirty="0">
                <a:sym typeface="Wingdings" pitchFamily="2" charset="2"/>
              </a:rPr>
              <a:t>nalogy: </a:t>
            </a:r>
            <a:r>
              <a:rPr lang="en-GB" dirty="0"/>
              <a:t>Humans do not hit the ground running (storage capacity of DNA limited) but have learning capabilities.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A252D-C08C-169A-2929-AD29EAD7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29371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68474-B64E-C6EC-6B3C-9C843D4B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6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A50E04-3D60-66D2-8638-F7F57EDDA6DA}"/>
              </a:ext>
            </a:extLst>
          </p:cNvPr>
          <p:cNvGrpSpPr/>
          <p:nvPr/>
        </p:nvGrpSpPr>
        <p:grpSpPr>
          <a:xfrm>
            <a:off x="71915" y="85725"/>
            <a:ext cx="12048169" cy="5927675"/>
            <a:chOff x="175321" y="218621"/>
            <a:chExt cx="12048169" cy="5927675"/>
          </a:xfrm>
        </p:grpSpPr>
        <p:pic>
          <p:nvPicPr>
            <p:cNvPr id="6" name="Picture 5" descr="Diagram&#10;&#10;Description automatically generated">
              <a:extLst>
                <a:ext uri="{FF2B5EF4-FFF2-40B4-BE49-F238E27FC236}">
                  <a16:creationId xmlns:a16="http://schemas.microsoft.com/office/drawing/2014/main" id="{C1A1B37E-59B0-ADDA-B17A-FAA0ECBDD4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9909" t="53477" r="35242" b="29747"/>
            <a:stretch/>
          </p:blipFill>
          <p:spPr>
            <a:xfrm>
              <a:off x="4093771" y="3339970"/>
              <a:ext cx="1120291" cy="872729"/>
            </a:xfrm>
            <a:prstGeom prst="rect">
              <a:avLst/>
            </a:prstGeom>
          </p:spPr>
        </p:pic>
        <p:pic>
          <p:nvPicPr>
            <p:cNvPr id="7" name="Picture 2" descr="Building Autoencoders in Keras">
              <a:extLst>
                <a:ext uri="{FF2B5EF4-FFF2-40B4-BE49-F238E27FC236}">
                  <a16:creationId xmlns:a16="http://schemas.microsoft.com/office/drawing/2014/main" id="{D9E6DDD4-A04F-E58B-F433-3EDEF323E3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3489" y="4389758"/>
              <a:ext cx="1410036" cy="443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7D2F8F-5EDD-6B7E-7313-970BD358220C}"/>
                </a:ext>
              </a:extLst>
            </p:cNvPr>
            <p:cNvSpPr txBox="1"/>
            <p:nvPr/>
          </p:nvSpPr>
          <p:spPr>
            <a:xfrm>
              <a:off x="2456981" y="218621"/>
              <a:ext cx="43194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AccordAlternate" panose="02000000000000000000" pitchFamily="50" charset="0"/>
                </a:rPr>
                <a:t>MACHINE LEARNING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7BA05BF-16E7-77F0-11E9-87A50BCD66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967" y="824266"/>
              <a:ext cx="763649" cy="981135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805CF5-4013-AFDB-E7AD-55773D741F17}"/>
                </a:ext>
              </a:extLst>
            </p:cNvPr>
            <p:cNvSpPr txBox="1"/>
            <p:nvPr/>
          </p:nvSpPr>
          <p:spPr>
            <a:xfrm>
              <a:off x="175321" y="1823259"/>
              <a:ext cx="43194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SUPERVISED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0FB2E7-5829-7A0B-E39B-9367288B1712}"/>
                </a:ext>
              </a:extLst>
            </p:cNvPr>
            <p:cNvSpPr txBox="1"/>
            <p:nvPr/>
          </p:nvSpPr>
          <p:spPr>
            <a:xfrm>
              <a:off x="708719" y="1126039"/>
              <a:ext cx="2178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i="1" dirty="0"/>
                <a:t>training target available (labeled or past data)</a:t>
              </a:r>
            </a:p>
          </p:txBody>
        </p:sp>
        <p:sp>
          <p:nvSpPr>
            <p:cNvPr id="12" name="Freeform: Shape 13">
              <a:extLst>
                <a:ext uri="{FF2B5EF4-FFF2-40B4-BE49-F238E27FC236}">
                  <a16:creationId xmlns:a16="http://schemas.microsoft.com/office/drawing/2014/main" id="{2778DC91-FE00-BC3E-E08B-55CE2285DF86}"/>
                </a:ext>
              </a:extLst>
            </p:cNvPr>
            <p:cNvSpPr/>
            <p:nvPr/>
          </p:nvSpPr>
          <p:spPr>
            <a:xfrm>
              <a:off x="1416083" y="2189803"/>
              <a:ext cx="535450" cy="666750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6DE158-2CB9-4E5E-CB86-3EE1CB683BFB}"/>
                </a:ext>
              </a:extLst>
            </p:cNvPr>
            <p:cNvSpPr txBox="1"/>
            <p:nvPr/>
          </p:nvSpPr>
          <p:spPr>
            <a:xfrm>
              <a:off x="218591" y="290447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CLASSIFICATION</a:t>
              </a:r>
            </a:p>
          </p:txBody>
        </p:sp>
        <p:sp>
          <p:nvSpPr>
            <p:cNvPr id="14" name="Freeform: Shape 17">
              <a:extLst>
                <a:ext uri="{FF2B5EF4-FFF2-40B4-BE49-F238E27FC236}">
                  <a16:creationId xmlns:a16="http://schemas.microsoft.com/office/drawing/2014/main" id="{2656966F-ABA6-3D2B-CA9F-2C680600270D}"/>
                </a:ext>
              </a:extLst>
            </p:cNvPr>
            <p:cNvSpPr/>
            <p:nvPr/>
          </p:nvSpPr>
          <p:spPr>
            <a:xfrm flipH="1">
              <a:off x="2585690" y="2230474"/>
              <a:ext cx="535450" cy="1519413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41A73B-65A1-834D-E2F6-972096888130}"/>
                </a:ext>
              </a:extLst>
            </p:cNvPr>
            <p:cNvSpPr txBox="1"/>
            <p:nvPr/>
          </p:nvSpPr>
          <p:spPr>
            <a:xfrm>
              <a:off x="2039499" y="386213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REGRESSION</a:t>
              </a:r>
            </a:p>
          </p:txBody>
        </p:sp>
        <p:pic>
          <p:nvPicPr>
            <p:cNvPr id="16" name="Picture 15" descr="Diagram&#10;&#10;Description automatically generated">
              <a:extLst>
                <a:ext uri="{FF2B5EF4-FFF2-40B4-BE49-F238E27FC236}">
                  <a16:creationId xmlns:a16="http://schemas.microsoft.com/office/drawing/2014/main" id="{1AC57D1E-86B8-94B6-954C-A7F1ED7AAE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1831" r="83312" b="27845"/>
            <a:stretch/>
          </p:blipFill>
          <p:spPr>
            <a:xfrm>
              <a:off x="578937" y="3230147"/>
              <a:ext cx="1259094" cy="1057275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5FB5A8-B936-EEAC-5DB2-F776F2811D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38232" y="852611"/>
              <a:ext cx="727413" cy="1085381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4E9DCE-D052-2EF3-C9DA-047B794C812C}"/>
                </a:ext>
              </a:extLst>
            </p:cNvPr>
            <p:cNvSpPr txBox="1"/>
            <p:nvPr/>
          </p:nvSpPr>
          <p:spPr>
            <a:xfrm>
              <a:off x="4718386" y="1898003"/>
              <a:ext cx="18947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UNSUPERVISED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6F7B23-911D-8AED-D2A4-B4E1D83C37D7}"/>
                </a:ext>
              </a:extLst>
            </p:cNvPr>
            <p:cNvSpPr txBox="1"/>
            <p:nvPr/>
          </p:nvSpPr>
          <p:spPr>
            <a:xfrm>
              <a:off x="5321765" y="1227328"/>
              <a:ext cx="1291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data not labeled in any way</a:t>
              </a:r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5DD312DA-D75C-143A-2CC8-EA04CF03853E}"/>
                </a:ext>
              </a:extLst>
            </p:cNvPr>
            <p:cNvSpPr/>
            <p:nvPr/>
          </p:nvSpPr>
          <p:spPr>
            <a:xfrm>
              <a:off x="4919093" y="2312708"/>
              <a:ext cx="535450" cy="650613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D6A2B84-33E1-982F-840A-7515D558328F}"/>
                </a:ext>
              </a:extLst>
            </p:cNvPr>
            <p:cNvSpPr txBox="1"/>
            <p:nvPr/>
          </p:nvSpPr>
          <p:spPr>
            <a:xfrm>
              <a:off x="3573072" y="3016605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CLUSTERING</a:t>
              </a:r>
            </a:p>
          </p:txBody>
        </p:sp>
        <p:sp>
          <p:nvSpPr>
            <p:cNvPr id="22" name="Freeform: Shape 30">
              <a:extLst>
                <a:ext uri="{FF2B5EF4-FFF2-40B4-BE49-F238E27FC236}">
                  <a16:creationId xmlns:a16="http://schemas.microsoft.com/office/drawing/2014/main" id="{BBDAE37F-A813-3AE8-FD0D-56F014BCFAEC}"/>
                </a:ext>
              </a:extLst>
            </p:cNvPr>
            <p:cNvSpPr/>
            <p:nvPr/>
          </p:nvSpPr>
          <p:spPr>
            <a:xfrm rot="20668895" flipH="1">
              <a:off x="6093685" y="2204099"/>
              <a:ext cx="437918" cy="1964299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484300 w 484300"/>
                <a:gd name="connsiteY0" fmla="*/ 0 h 1387358"/>
                <a:gd name="connsiteX1" fmla="*/ 17575 w 484300"/>
                <a:gd name="connsiteY1" fmla="*/ 466725 h 1387358"/>
                <a:gd name="connsiteX2" fmla="*/ 210979 w 484300"/>
                <a:gd name="connsiteY2" fmla="*/ 1387358 h 1387358"/>
                <a:gd name="connsiteX0" fmla="*/ 277301 w 277301"/>
                <a:gd name="connsiteY0" fmla="*/ 0 h 1387358"/>
                <a:gd name="connsiteX1" fmla="*/ 102889 w 277301"/>
                <a:gd name="connsiteY1" fmla="*/ 637638 h 1387358"/>
                <a:gd name="connsiteX2" fmla="*/ 3980 w 277301"/>
                <a:gd name="connsiteY2" fmla="*/ 1387358 h 1387358"/>
                <a:gd name="connsiteX0" fmla="*/ 274461 w 274461"/>
                <a:gd name="connsiteY0" fmla="*/ 0 h 1387358"/>
                <a:gd name="connsiteX1" fmla="*/ 100049 w 274461"/>
                <a:gd name="connsiteY1" fmla="*/ 637638 h 1387358"/>
                <a:gd name="connsiteX2" fmla="*/ 1140 w 27446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4271" h="1387358">
                  <a:moveTo>
                    <a:pt x="274271" y="0"/>
                  </a:moveTo>
                  <a:cubicBezTo>
                    <a:pt x="84564" y="177800"/>
                    <a:pt x="145413" y="526513"/>
                    <a:pt x="129687" y="642257"/>
                  </a:cubicBezTo>
                  <a:cubicBezTo>
                    <a:pt x="155721" y="808814"/>
                    <a:pt x="-14131" y="1342908"/>
                    <a:pt x="950" y="1387358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BBDFE6-03DC-E3D6-B263-C71FF990B7E6}"/>
                </a:ext>
              </a:extLst>
            </p:cNvPr>
            <p:cNvSpPr txBox="1"/>
            <p:nvPr/>
          </p:nvSpPr>
          <p:spPr>
            <a:xfrm>
              <a:off x="5881412" y="4057574"/>
              <a:ext cx="28213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DIMENSIONALITY REDUCTION</a:t>
              </a:r>
            </a:p>
          </p:txBody>
        </p:sp>
        <p:pic>
          <p:nvPicPr>
            <p:cNvPr id="24" name="Picture 23" descr="Diagram&#10;&#10;Description automatically generated">
              <a:extLst>
                <a:ext uri="{FF2B5EF4-FFF2-40B4-BE49-F238E27FC236}">
                  <a16:creationId xmlns:a16="http://schemas.microsoft.com/office/drawing/2014/main" id="{961DCB45-D699-7724-4A20-3DD518F6E4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0107" t="85514" r="25013" b="-26"/>
            <a:stretch/>
          </p:blipFill>
          <p:spPr>
            <a:xfrm>
              <a:off x="6029678" y="4391815"/>
              <a:ext cx="907593" cy="610367"/>
            </a:xfrm>
            <a:prstGeom prst="rect">
              <a:avLst/>
            </a:prstGeom>
          </p:spPr>
        </p:pic>
        <p:sp>
          <p:nvSpPr>
            <p:cNvPr id="25" name="Freeform: Shape 36">
              <a:extLst>
                <a:ext uri="{FF2B5EF4-FFF2-40B4-BE49-F238E27FC236}">
                  <a16:creationId xmlns:a16="http://schemas.microsoft.com/office/drawing/2014/main" id="{4CAE65A6-0263-B75A-37D3-871BCEF91887}"/>
                </a:ext>
              </a:extLst>
            </p:cNvPr>
            <p:cNvSpPr/>
            <p:nvPr/>
          </p:nvSpPr>
          <p:spPr>
            <a:xfrm flipH="1">
              <a:off x="6051333" y="2285243"/>
              <a:ext cx="1271385" cy="461665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3D24E2C-B288-8873-2608-F5E4F08869BA}"/>
                </a:ext>
              </a:extLst>
            </p:cNvPr>
            <p:cNvSpPr txBox="1"/>
            <p:nvPr/>
          </p:nvSpPr>
          <p:spPr>
            <a:xfrm>
              <a:off x="6426061" y="280055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ASSOCIATION</a:t>
              </a:r>
            </a:p>
          </p:txBody>
        </p:sp>
        <p:pic>
          <p:nvPicPr>
            <p:cNvPr id="27" name="Picture 26" descr="Diagram&#10;&#10;Description automatically generated">
              <a:extLst>
                <a:ext uri="{FF2B5EF4-FFF2-40B4-BE49-F238E27FC236}">
                  <a16:creationId xmlns:a16="http://schemas.microsoft.com/office/drawing/2014/main" id="{93AD1EB2-A1EF-D17E-62B8-2F3C8894EF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3332" t="61907" r="4206" b="25639"/>
            <a:stretch/>
          </p:blipFill>
          <p:spPr>
            <a:xfrm>
              <a:off x="7190512" y="3125401"/>
              <a:ext cx="940142" cy="647941"/>
            </a:xfrm>
            <a:prstGeom prst="rect">
              <a:avLst/>
            </a:prstGeom>
          </p:spPr>
        </p:pic>
        <p:sp>
          <p:nvSpPr>
            <p:cNvPr id="28" name="Freeform: Shape 42">
              <a:extLst>
                <a:ext uri="{FF2B5EF4-FFF2-40B4-BE49-F238E27FC236}">
                  <a16:creationId xmlns:a16="http://schemas.microsoft.com/office/drawing/2014/main" id="{A83BDB6A-E5B0-EB3E-5DD2-F3B3170C4926}"/>
                </a:ext>
              </a:extLst>
            </p:cNvPr>
            <p:cNvSpPr/>
            <p:nvPr/>
          </p:nvSpPr>
          <p:spPr>
            <a:xfrm flipH="1">
              <a:off x="6029678" y="800810"/>
              <a:ext cx="3296460" cy="896554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537576 w 537576"/>
                <a:gd name="connsiteY0" fmla="*/ 0 h 593458"/>
                <a:gd name="connsiteX1" fmla="*/ 70851 w 537576"/>
                <a:gd name="connsiteY1" fmla="*/ 466725 h 593458"/>
                <a:gd name="connsiteX2" fmla="*/ 10594 w 537576"/>
                <a:gd name="connsiteY2" fmla="*/ 593458 h 59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7576" h="593458">
                  <a:moveTo>
                    <a:pt x="537576" y="0"/>
                  </a:moveTo>
                  <a:cubicBezTo>
                    <a:pt x="347869" y="177800"/>
                    <a:pt x="158163" y="355600"/>
                    <a:pt x="70851" y="466725"/>
                  </a:cubicBezTo>
                  <a:cubicBezTo>
                    <a:pt x="-16461" y="577850"/>
                    <a:pt x="-4487" y="549008"/>
                    <a:pt x="10594" y="593458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ADC13BA-CFFF-F2AB-21DA-4BF835835863}"/>
                </a:ext>
              </a:extLst>
            </p:cNvPr>
            <p:cNvSpPr txBox="1"/>
            <p:nvPr/>
          </p:nvSpPr>
          <p:spPr>
            <a:xfrm>
              <a:off x="8437375" y="1705111"/>
              <a:ext cx="32964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REINFORCEMENT LEARNING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8DBF41B-A02D-99FB-E578-AA090619F277}"/>
                </a:ext>
              </a:extLst>
            </p:cNvPr>
            <p:cNvSpPr txBox="1"/>
            <p:nvPr/>
          </p:nvSpPr>
          <p:spPr>
            <a:xfrm>
              <a:off x="8483719" y="878384"/>
              <a:ext cx="2244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no supervision, but goal-based interaction with environment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7EA3C98-2E91-E35E-A600-9903FE1EC405}"/>
                </a:ext>
              </a:extLst>
            </p:cNvPr>
            <p:cNvSpPr/>
            <p:nvPr/>
          </p:nvSpPr>
          <p:spPr>
            <a:xfrm>
              <a:off x="8676891" y="5556559"/>
              <a:ext cx="3252350" cy="584775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GB" sz="1600" b="1" dirty="0"/>
                <a:t>learning by trial-and-error</a:t>
              </a:r>
            </a:p>
            <a:p>
              <a:pPr indent="-228600" algn="ctr"/>
              <a:r>
                <a:rPr lang="en-GB" sz="1600" b="1" dirty="0"/>
                <a:t>(sequential decision making)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C8E22A-2FAB-C37C-FECC-32879863F722}"/>
                </a:ext>
              </a:extLst>
            </p:cNvPr>
            <p:cNvSpPr/>
            <p:nvPr/>
          </p:nvSpPr>
          <p:spPr>
            <a:xfrm>
              <a:off x="4617646" y="5561521"/>
              <a:ext cx="3171744" cy="584775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US" sz="1600" b="1" dirty="0"/>
                <a:t>learning by observation</a:t>
              </a:r>
            </a:p>
            <a:p>
              <a:pPr indent="-228600" algn="ctr"/>
              <a:r>
                <a:rPr lang="en-US" sz="1600" b="1" dirty="0"/>
                <a:t>(pattern recognition)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5B146D8-ADDB-5E2C-F2D2-B6C2AFFF7293}"/>
                </a:ext>
              </a:extLst>
            </p:cNvPr>
            <p:cNvSpPr/>
            <p:nvPr/>
          </p:nvSpPr>
          <p:spPr>
            <a:xfrm>
              <a:off x="578937" y="5556559"/>
              <a:ext cx="3151208" cy="584775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US" sz="1600" b="1" dirty="0"/>
                <a:t>learning by teacher </a:t>
              </a:r>
            </a:p>
            <a:p>
              <a:pPr indent="-228600" algn="ctr"/>
              <a:r>
                <a:rPr lang="en-US" sz="1600" b="1" dirty="0"/>
                <a:t>(high-dimensional curve fitting)</a:t>
              </a:r>
            </a:p>
          </p:txBody>
        </p:sp>
        <p:sp>
          <p:nvSpPr>
            <p:cNvPr id="34" name="Freeform: Shape 44">
              <a:extLst>
                <a:ext uri="{FF2B5EF4-FFF2-40B4-BE49-F238E27FC236}">
                  <a16:creationId xmlns:a16="http://schemas.microsoft.com/office/drawing/2014/main" id="{31F79D89-FD19-5BCE-89CD-FBE1F5B82566}"/>
                </a:ext>
              </a:extLst>
            </p:cNvPr>
            <p:cNvSpPr/>
            <p:nvPr/>
          </p:nvSpPr>
          <p:spPr>
            <a:xfrm rot="16780113" flipV="1">
              <a:off x="9126569" y="2460533"/>
              <a:ext cx="748260" cy="45719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3F74E0-97B2-1B63-1A18-907E0E269C69}"/>
                </a:ext>
              </a:extLst>
            </p:cNvPr>
            <p:cNvSpPr txBox="1"/>
            <p:nvPr/>
          </p:nvSpPr>
          <p:spPr>
            <a:xfrm>
              <a:off x="8640864" y="2960609"/>
              <a:ext cx="18947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LEARN STATE OR ACTION VALUES</a:t>
              </a:r>
            </a:p>
          </p:txBody>
        </p:sp>
        <p:sp>
          <p:nvSpPr>
            <p:cNvPr id="36" name="Freeform: Shape 55">
              <a:extLst>
                <a:ext uri="{FF2B5EF4-FFF2-40B4-BE49-F238E27FC236}">
                  <a16:creationId xmlns:a16="http://schemas.microsoft.com/office/drawing/2014/main" id="{0A770BE1-8426-B62A-37AD-B905AFA21D63}"/>
                </a:ext>
              </a:extLst>
            </p:cNvPr>
            <p:cNvSpPr/>
            <p:nvPr/>
          </p:nvSpPr>
          <p:spPr>
            <a:xfrm flipH="1">
              <a:off x="9985125" y="2105221"/>
              <a:ext cx="1490090" cy="1419215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B187C2-E5F5-3E8D-6CEE-E5A492F05D5D}"/>
                </a:ext>
              </a:extLst>
            </p:cNvPr>
            <p:cNvSpPr txBox="1"/>
            <p:nvPr/>
          </p:nvSpPr>
          <p:spPr>
            <a:xfrm>
              <a:off x="10328735" y="3625432"/>
              <a:ext cx="18947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LEARN POLICY DIRECTLY</a:t>
              </a:r>
            </a:p>
          </p:txBody>
        </p:sp>
        <p:pic>
          <p:nvPicPr>
            <p:cNvPr id="38" name="Picture 6" descr="Three Things to Know About Reinforcement Learning - KDnuggets">
              <a:extLst>
                <a:ext uri="{FF2B5EF4-FFF2-40B4-BE49-F238E27FC236}">
                  <a16:creationId xmlns:a16="http://schemas.microsoft.com/office/drawing/2014/main" id="{5A07FD57-AB36-D315-0803-61EC9D6005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67181" y="4210234"/>
              <a:ext cx="2012950" cy="10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577DC3E1-B1A6-589C-A746-70239E53BC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298"/>
            <a:stretch/>
          </p:blipFill>
          <p:spPr bwMode="auto">
            <a:xfrm>
              <a:off x="2535366" y="4179415"/>
              <a:ext cx="1259095" cy="687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F9648B0-1D8D-FCC6-CD96-C7A66123BF25}"/>
                </a:ext>
              </a:extLst>
            </p:cNvPr>
            <p:cNvSpPr txBox="1"/>
            <p:nvPr/>
          </p:nvSpPr>
          <p:spPr>
            <a:xfrm>
              <a:off x="3983202" y="4674063"/>
              <a:ext cx="20959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SELF-SUPERVISED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F3FC286-A669-F959-2B90-91B42040EE70}"/>
                </a:ext>
              </a:extLst>
            </p:cNvPr>
            <p:cNvCxnSpPr>
              <a:cxnSpLocks/>
              <a:stCxn id="40" idx="0"/>
              <a:endCxn id="18" idx="2"/>
            </p:cNvCxnSpPr>
            <p:nvPr/>
          </p:nvCxnSpPr>
          <p:spPr>
            <a:xfrm flipV="1">
              <a:off x="5031154" y="2298113"/>
              <a:ext cx="634610" cy="2375950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5141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4BCAF0-0279-CF76-75E5-335A1CCBA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Supervised Learning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AED9B-DCB2-71E2-2E4D-F9BA5C5AB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7</a:t>
            </a:fld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E29654-4CEA-778A-6D2C-A36510E39CE1}"/>
              </a:ext>
            </a:extLst>
          </p:cNvPr>
          <p:cNvSpPr/>
          <p:nvPr/>
        </p:nvSpPr>
        <p:spPr>
          <a:xfrm>
            <a:off x="440024" y="1892974"/>
            <a:ext cx="4487575" cy="1803624"/>
          </a:xfrm>
          <a:prstGeom prst="roundRect">
            <a:avLst>
              <a:gd name="adj" fmla="val 531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E633E2-31DD-26F1-2171-B10983A1AF11}"/>
              </a:ext>
            </a:extLst>
          </p:cNvPr>
          <p:cNvSpPr/>
          <p:nvPr/>
        </p:nvSpPr>
        <p:spPr>
          <a:xfrm>
            <a:off x="5743658" y="1888233"/>
            <a:ext cx="4487575" cy="1803624"/>
          </a:xfrm>
          <a:prstGeom prst="roundRect">
            <a:avLst>
              <a:gd name="adj" fmla="val 531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30439F-732D-A050-F112-B89DAAF7482F}"/>
              </a:ext>
            </a:extLst>
          </p:cNvPr>
          <p:cNvSpPr/>
          <p:nvPr/>
        </p:nvSpPr>
        <p:spPr>
          <a:xfrm>
            <a:off x="657738" y="1694854"/>
            <a:ext cx="2367029" cy="48768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Target Quantity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C5A28B-6CB2-3EFB-BFDD-D29B4F561BC5}"/>
              </a:ext>
            </a:extLst>
          </p:cNvPr>
          <p:cNvSpPr txBox="1"/>
          <p:nvPr/>
        </p:nvSpPr>
        <p:spPr>
          <a:xfrm>
            <a:off x="440024" y="2308294"/>
            <a:ext cx="44875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230188">
              <a:buFont typeface="Arial" panose="020B0604020202020204" pitchFamily="34" charset="0"/>
              <a:buChar char="•"/>
            </a:pPr>
            <a:r>
              <a:rPr lang="en-GB" sz="2000" b="1" dirty="0"/>
              <a:t>known in training</a:t>
            </a:r>
            <a:r>
              <a:rPr lang="en-GB" sz="2000" dirty="0"/>
              <a:t>: labeled samples or observations from past</a:t>
            </a:r>
          </a:p>
          <a:p>
            <a:pPr marL="342900" indent="-230188">
              <a:buFont typeface="Arial" panose="020B0604020202020204" pitchFamily="34" charset="0"/>
              <a:buChar char="•"/>
            </a:pPr>
            <a:r>
              <a:rPr lang="en-GB" sz="2000" dirty="0"/>
              <a:t>to be </a:t>
            </a:r>
            <a:r>
              <a:rPr lang="en-GB" sz="2000" b="1" dirty="0"/>
              <a:t>predicted</a:t>
            </a:r>
            <a:r>
              <a:rPr lang="en-GB" sz="2000" dirty="0"/>
              <a:t> for unknown cases (e.g., future values)</a:t>
            </a:r>
            <a:endParaRPr lang="en-US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6945479-8ABF-B513-1072-9DB906CB5498}"/>
              </a:ext>
            </a:extLst>
          </p:cNvPr>
          <p:cNvSpPr/>
          <p:nvPr/>
        </p:nvSpPr>
        <p:spPr>
          <a:xfrm>
            <a:off x="5965726" y="1690688"/>
            <a:ext cx="2367029" cy="487680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Features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81EB55-0D1C-D3C2-EFBA-68AAD01E2FAC}"/>
              </a:ext>
            </a:extLst>
          </p:cNvPr>
          <p:cNvSpPr txBox="1"/>
          <p:nvPr/>
        </p:nvSpPr>
        <p:spPr>
          <a:xfrm>
            <a:off x="5743659" y="2322303"/>
            <a:ext cx="41888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(prepared) input information that is</a:t>
            </a:r>
          </a:p>
          <a:p>
            <a:pPr marL="342900" indent="-230188">
              <a:buFont typeface="Arial" panose="020B0604020202020204" pitchFamily="34" charset="0"/>
              <a:buChar char="•"/>
            </a:pPr>
            <a:r>
              <a:rPr lang="en-GB" sz="2000" dirty="0"/>
              <a:t>correlated to target quantity</a:t>
            </a:r>
          </a:p>
          <a:p>
            <a:pPr marL="342900" indent="-230188">
              <a:buFont typeface="Arial" panose="020B0604020202020204" pitchFamily="34" charset="0"/>
              <a:buChar char="•"/>
            </a:pPr>
            <a:r>
              <a:rPr lang="en-GB" sz="2000" dirty="0"/>
              <a:t>known at prediction time</a:t>
            </a:r>
          </a:p>
        </p:txBody>
      </p:sp>
      <p:pic>
        <p:nvPicPr>
          <p:cNvPr id="17" name="Picture 16" descr="A picture containing letter&#10;&#10;Description automatically generated">
            <a:extLst>
              <a:ext uri="{FF2B5EF4-FFF2-40B4-BE49-F238E27FC236}">
                <a16:creationId xmlns:a16="http://schemas.microsoft.com/office/drawing/2014/main" id="{57C91173-6B41-A004-0793-FD56A7D5502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951" y="4594699"/>
            <a:ext cx="2712816" cy="18085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BCC3403-11F9-12E9-BB00-17BD2E0585C0}"/>
              </a:ext>
            </a:extLst>
          </p:cNvPr>
          <p:cNvSpPr txBox="1"/>
          <p:nvPr/>
        </p:nvSpPr>
        <p:spPr>
          <a:xfrm>
            <a:off x="3239946" y="4250260"/>
            <a:ext cx="418881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Example: Spam Filtering</a:t>
            </a:r>
          </a:p>
          <a:p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classify emails as spam or no spam</a:t>
            </a:r>
          </a:p>
        </p:txBody>
      </p:sp>
      <p:sp>
        <p:nvSpPr>
          <p:cNvPr id="20" name="Rectangle: Rounded Corners 26">
            <a:extLst>
              <a:ext uri="{FF2B5EF4-FFF2-40B4-BE49-F238E27FC236}">
                <a16:creationId xmlns:a16="http://schemas.microsoft.com/office/drawing/2014/main" id="{BFA8F20B-1C26-C84B-3151-366D1D2D94EB}"/>
              </a:ext>
            </a:extLst>
          </p:cNvPr>
          <p:cNvSpPr/>
          <p:nvPr/>
        </p:nvSpPr>
        <p:spPr>
          <a:xfrm>
            <a:off x="3322683" y="5078870"/>
            <a:ext cx="2420977" cy="1143206"/>
          </a:xfrm>
          <a:prstGeom prst="roundRect">
            <a:avLst>
              <a:gd name="adj" fmla="val 531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A6F309-49B9-A8E9-71F9-A6E1DCD55622}"/>
              </a:ext>
            </a:extLst>
          </p:cNvPr>
          <p:cNvSpPr txBox="1"/>
          <p:nvPr/>
        </p:nvSpPr>
        <p:spPr>
          <a:xfrm>
            <a:off x="3371664" y="5316067"/>
            <a:ext cx="2371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use accordingly </a:t>
            </a:r>
            <a:r>
              <a:rPr lang="en-GB" sz="1600" b="1" i="1" dirty="0"/>
              <a:t>labeled emails as training set</a:t>
            </a:r>
          </a:p>
        </p:txBody>
      </p:sp>
      <p:sp>
        <p:nvSpPr>
          <p:cNvPr id="22" name="Rectangle: Rounded Corners 28">
            <a:extLst>
              <a:ext uri="{FF2B5EF4-FFF2-40B4-BE49-F238E27FC236}">
                <a16:creationId xmlns:a16="http://schemas.microsoft.com/office/drawing/2014/main" id="{CBA6CAB8-1E9D-E6BA-555C-631834EB6B63}"/>
              </a:ext>
            </a:extLst>
          </p:cNvPr>
          <p:cNvSpPr/>
          <p:nvPr/>
        </p:nvSpPr>
        <p:spPr>
          <a:xfrm>
            <a:off x="5974443" y="5070600"/>
            <a:ext cx="2420977" cy="1143206"/>
          </a:xfrm>
          <a:prstGeom prst="roundRect">
            <a:avLst>
              <a:gd name="adj" fmla="val 531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B045D5-1844-8139-A08C-AF18A8FD1AD5}"/>
              </a:ext>
            </a:extLst>
          </p:cNvPr>
          <p:cNvSpPr txBox="1"/>
          <p:nvPr/>
        </p:nvSpPr>
        <p:spPr>
          <a:xfrm>
            <a:off x="5974442" y="5110022"/>
            <a:ext cx="24209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use information like occurrence of specific words or email length as </a:t>
            </a:r>
            <a:r>
              <a:rPr lang="en-GB" sz="1600" b="1" dirty="0"/>
              <a:t>features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5873D9E-8D81-CD2B-5699-91DFC0C32674}"/>
              </a:ext>
            </a:extLst>
          </p:cNvPr>
          <p:cNvGrpSpPr/>
          <p:nvPr/>
        </p:nvGrpSpPr>
        <p:grpSpPr>
          <a:xfrm>
            <a:off x="8509246" y="4157854"/>
            <a:ext cx="2442727" cy="2066108"/>
            <a:chOff x="9123943" y="5414911"/>
            <a:chExt cx="1737346" cy="138723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CE38CB2-2382-0404-1DCA-6C55779B81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667" t="32140" r="31968" b="9384"/>
            <a:stretch/>
          </p:blipFill>
          <p:spPr>
            <a:xfrm>
              <a:off x="9123943" y="5414911"/>
              <a:ext cx="1737346" cy="1387231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0EAA3D5-3D8F-1552-6F2D-E124F7562E3E}"/>
                </a:ext>
              </a:extLst>
            </p:cNvPr>
            <p:cNvSpPr/>
            <p:nvPr/>
          </p:nvSpPr>
          <p:spPr>
            <a:xfrm>
              <a:off x="9511990" y="5414911"/>
              <a:ext cx="947854" cy="2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24" name="Rectangle: Rounded Corners 32">
            <a:extLst>
              <a:ext uri="{FF2B5EF4-FFF2-40B4-BE49-F238E27FC236}">
                <a16:creationId xmlns:a16="http://schemas.microsoft.com/office/drawing/2014/main" id="{2A91D2D4-5C6D-E9BD-8BEE-8373E038057C}"/>
              </a:ext>
            </a:extLst>
          </p:cNvPr>
          <p:cNvSpPr/>
          <p:nvPr/>
        </p:nvSpPr>
        <p:spPr>
          <a:xfrm>
            <a:off x="9821826" y="3696598"/>
            <a:ext cx="2346099" cy="1143206"/>
          </a:xfrm>
          <a:prstGeom prst="roundRect">
            <a:avLst>
              <a:gd name="adj" fmla="val 531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features x1 and x2 </a:t>
            </a:r>
            <a:r>
              <a:rPr lang="en-GB" dirty="0">
                <a:solidFill>
                  <a:srgbClr val="C00000"/>
                </a:solidFill>
              </a:rPr>
              <a:t>spam</a:t>
            </a:r>
            <a:r>
              <a:rPr lang="en-GB" dirty="0">
                <a:solidFill>
                  <a:schemeClr val="tx1"/>
                </a:solidFill>
              </a:rPr>
              <a:t>,</a:t>
            </a:r>
            <a:r>
              <a:rPr lang="en-GB" dirty="0"/>
              <a:t> </a:t>
            </a:r>
            <a:r>
              <a:rPr lang="en-GB" dirty="0">
                <a:solidFill>
                  <a:srgbClr val="002060"/>
                </a:solidFill>
              </a:rPr>
              <a:t>no spam</a:t>
            </a:r>
          </a:p>
          <a:p>
            <a:pPr algn="ctr"/>
            <a:r>
              <a:rPr lang="en-GB" dirty="0">
                <a:solidFill>
                  <a:srgbClr val="00B050"/>
                </a:solidFill>
              </a:rPr>
              <a:t>decision boundary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46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E70834-2630-CF53-46B9-4A5595D21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Used Programming Language: Python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C0850-2155-3201-EF3C-EFB7157E6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good compromise between rapid prototyping and production</a:t>
            </a:r>
          </a:p>
          <a:p>
            <a:r>
              <a:rPr lang="en-GB" dirty="0"/>
              <a:t>vast ecosystem</a:t>
            </a:r>
          </a:p>
          <a:p>
            <a:r>
              <a:rPr lang="en-GB" dirty="0"/>
              <a:t>very popular for data processing and ML: scientific Python stack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014FD3-2384-341A-0192-D9784F9F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3A53-1B14-4784-A6BE-2DB6D72C8D95}" type="slidenum">
              <a:rPr lang="en-GB" smtClean="0"/>
              <a:t>8</a:t>
            </a:fld>
            <a:endParaRPr lang="en-GB"/>
          </a:p>
        </p:txBody>
      </p:sp>
      <p:pic>
        <p:nvPicPr>
          <p:cNvPr id="8" name="Picture 2" descr="undefined">
            <a:extLst>
              <a:ext uri="{FF2B5EF4-FFF2-40B4-BE49-F238E27FC236}">
                <a16:creationId xmlns:a16="http://schemas.microsoft.com/office/drawing/2014/main" id="{558D5A92-0B5B-7717-CB3F-2D03E1B52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950" y="86276"/>
            <a:ext cx="1667700" cy="182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undefined">
            <a:extLst>
              <a:ext uri="{FF2B5EF4-FFF2-40B4-BE49-F238E27FC236}">
                <a16:creationId xmlns:a16="http://schemas.microsoft.com/office/drawing/2014/main" id="{36547C17-E21D-FBD0-2391-DA367A29E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46" y="3932953"/>
            <a:ext cx="3394103" cy="1527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undefined">
            <a:extLst>
              <a:ext uri="{FF2B5EF4-FFF2-40B4-BE49-F238E27FC236}">
                <a16:creationId xmlns:a16="http://schemas.microsoft.com/office/drawing/2014/main" id="{2F91ED10-6934-AB74-9C86-B13644E90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827" y="5270851"/>
            <a:ext cx="3230880" cy="1305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undefined">
            <a:extLst>
              <a:ext uri="{FF2B5EF4-FFF2-40B4-BE49-F238E27FC236}">
                <a16:creationId xmlns:a16="http://schemas.microsoft.com/office/drawing/2014/main" id="{2EF0CA0C-5B15-EA29-7463-7C51B00F0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761" y="5270851"/>
            <a:ext cx="2075592" cy="1117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undefined">
            <a:extLst>
              <a:ext uri="{FF2B5EF4-FFF2-40B4-BE49-F238E27FC236}">
                <a16:creationId xmlns:a16="http://schemas.microsoft.com/office/drawing/2014/main" id="{F1B7597C-6369-5514-7976-9E48A1316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184" y="4390882"/>
            <a:ext cx="2984390" cy="54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PyTorch is evolving fast. Listen to this podcast to find out how!">
            <a:extLst>
              <a:ext uri="{FF2B5EF4-FFF2-40B4-BE49-F238E27FC236}">
                <a16:creationId xmlns:a16="http://schemas.microsoft.com/office/drawing/2014/main" id="{CF13D292-AB33-3C1E-39B2-A7385966E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4651" y="4301787"/>
            <a:ext cx="3701716" cy="78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720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31D7-F116-6FF9-9B2A-660AE027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2A4C1-FFFD-3C44-E2CA-D30093EF7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locally, best use</a:t>
            </a:r>
          </a:p>
          <a:p>
            <a:r>
              <a:rPr lang="en-GB" dirty="0"/>
              <a:t>a virtual environment to flexibly install packages (e.g., </a:t>
            </a:r>
            <a:r>
              <a:rPr lang="en-GB" dirty="0" err="1">
                <a:hlinkClick r:id="rId2"/>
              </a:rPr>
              <a:t>venv</a:t>
            </a:r>
            <a:r>
              <a:rPr lang="en-GB" dirty="0"/>
              <a:t>)</a:t>
            </a:r>
          </a:p>
          <a:p>
            <a:r>
              <a:rPr lang="en-GB" dirty="0"/>
              <a:t>an IDE of your choice (e.g., </a:t>
            </a:r>
            <a:r>
              <a:rPr lang="en-GB" dirty="0">
                <a:hlinkClick r:id="rId3"/>
              </a:rPr>
              <a:t>VS Code</a:t>
            </a:r>
            <a:r>
              <a:rPr lang="en-GB" dirty="0"/>
              <a:t>)</a:t>
            </a:r>
          </a:p>
          <a:p>
            <a:r>
              <a:rPr lang="en-GB" dirty="0"/>
              <a:t>both plain Python files or </a:t>
            </a:r>
            <a:r>
              <a:rPr lang="en-GB" dirty="0" err="1">
                <a:hlinkClick r:id="rId4"/>
              </a:rPr>
              <a:t>Jupyter</a:t>
            </a:r>
            <a:r>
              <a:rPr lang="en-GB" dirty="0">
                <a:hlinkClick r:id="rId4"/>
              </a:rPr>
              <a:t> notebooks</a:t>
            </a:r>
            <a:r>
              <a:rPr lang="en-GB" dirty="0"/>
              <a:t> are fine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but cloud-based environments also fine (e.g., </a:t>
            </a:r>
            <a:r>
              <a:rPr lang="en-GB" dirty="0">
                <a:hlinkClick r:id="rId5"/>
              </a:rPr>
              <a:t>Google </a:t>
            </a:r>
            <a:r>
              <a:rPr lang="en-GB" dirty="0" err="1">
                <a:hlinkClick r:id="rId5"/>
              </a:rPr>
              <a:t>Colab</a:t>
            </a:r>
            <a:r>
              <a:rPr lang="en-GB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EB8C7-7F0B-BA44-36D2-4511056C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3A53-1B14-4784-A6BE-2DB6D72C8D9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728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6F3DDA-AA1C-74F2-B6BC-5D82FAA8E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530724"/>
          </a:xfrm>
          <a:ln>
            <a:solidFill>
              <a:schemeClr val="bg2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de-DE" sz="2600" b="1" dirty="0"/>
              <a:t>Part 1: Foundations 	    (Theory + </a:t>
            </a:r>
            <a:r>
              <a:rPr lang="de-DE" sz="2600" b="1" dirty="0" err="1"/>
              <a:t>Classical</a:t>
            </a:r>
            <a:r>
              <a:rPr lang="de-DE" sz="2600" b="1" dirty="0"/>
              <a:t> ML)</a:t>
            </a:r>
            <a:endParaRPr lang="en-GB" sz="26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de-DE" sz="2400" dirty="0"/>
              <a:t>AI/ML </a:t>
            </a:r>
            <a:r>
              <a:rPr lang="de-DE" sz="2400" dirty="0" err="1"/>
              <a:t>Overview</a:t>
            </a:r>
            <a:r>
              <a:rPr lang="de-DE" sz="2400" dirty="0"/>
              <a:t>		             </a:t>
            </a:r>
            <a:r>
              <a:rPr lang="de-DE" sz="1500" dirty="0"/>
              <a:t>Search &amp; </a:t>
            </a:r>
            <a:r>
              <a:rPr lang="de-DE" sz="1500" dirty="0" err="1"/>
              <a:t>Optimization</a:t>
            </a:r>
            <a:r>
              <a:rPr lang="de-DE" sz="1500" dirty="0"/>
              <a:t>, </a:t>
            </a:r>
            <a:r>
              <a:rPr lang="de-DE" sz="1500" dirty="0" err="1"/>
              <a:t>Supervised</a:t>
            </a:r>
            <a:r>
              <a:rPr lang="de-DE" sz="1500" dirty="0"/>
              <a:t> &amp; </a:t>
            </a:r>
            <a:r>
              <a:rPr lang="de-DE" sz="1500" dirty="0" err="1"/>
              <a:t>Unsupervised</a:t>
            </a:r>
            <a:r>
              <a:rPr lang="de-DE" sz="1500" dirty="0"/>
              <a:t> Learning</a:t>
            </a:r>
            <a:endParaRPr lang="en-GB" sz="15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de-DE" sz="2400" dirty="0"/>
              <a:t>Python &amp; </a:t>
            </a:r>
            <a:r>
              <a:rPr lang="de-DE" sz="2400" dirty="0" err="1"/>
              <a:t>scikit-learn</a:t>
            </a:r>
            <a:endParaRPr lang="en-GB" sz="12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de-DE" sz="2400" dirty="0"/>
              <a:t>Data and </a:t>
            </a:r>
            <a:r>
              <a:rPr lang="de-DE" sz="2400" dirty="0" err="1"/>
              <a:t>Preprocessing</a:t>
            </a:r>
            <a:endParaRPr lang="de-DE" sz="24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de-DE" sz="2400" dirty="0" err="1"/>
              <a:t>Supervised</a:t>
            </a:r>
            <a:r>
              <a:rPr lang="de-DE" sz="2400" dirty="0"/>
              <a:t> Learning	              </a:t>
            </a:r>
            <a:r>
              <a:rPr lang="de-DE" sz="1500" dirty="0"/>
              <a:t>Linear Models, </a:t>
            </a:r>
            <a:r>
              <a:rPr lang="de-DE" sz="1500" dirty="0" err="1"/>
              <a:t>k-Nearest</a:t>
            </a:r>
            <a:r>
              <a:rPr lang="de-DE" sz="1500" dirty="0"/>
              <a:t> </a:t>
            </a:r>
            <a:r>
              <a:rPr lang="de-DE" sz="1500" dirty="0" err="1"/>
              <a:t>Neighbors</a:t>
            </a:r>
            <a:r>
              <a:rPr lang="de-DE" sz="1500" dirty="0"/>
              <a:t>, Simple </a:t>
            </a:r>
            <a:r>
              <a:rPr lang="de-DE" sz="1500" dirty="0" err="1"/>
              <a:t>Neural</a:t>
            </a:r>
            <a:r>
              <a:rPr lang="de-DE" sz="1500" dirty="0"/>
              <a:t> Networks, </a:t>
            </a:r>
            <a:r>
              <a:rPr lang="de-DE" sz="1500" dirty="0" err="1"/>
              <a:t>Decision</a:t>
            </a:r>
            <a:r>
              <a:rPr lang="de-DE" sz="1500" dirty="0"/>
              <a:t> </a:t>
            </a:r>
            <a:r>
              <a:rPr lang="de-DE" sz="1500" dirty="0" err="1"/>
              <a:t>Trees</a:t>
            </a:r>
            <a:endParaRPr lang="de-DE" sz="1500" dirty="0"/>
          </a:p>
          <a:p>
            <a:pPr marL="457200" indent="-457200">
              <a:buFont typeface="+mj-lt"/>
              <a:buAutoNum type="arabicPeriod"/>
            </a:pPr>
            <a:r>
              <a:rPr lang="de-DE" sz="2400" dirty="0"/>
              <a:t>Model Evaluation &amp; </a:t>
            </a:r>
            <a:r>
              <a:rPr lang="de-DE" sz="2400" dirty="0" err="1"/>
              <a:t>Selection</a:t>
            </a:r>
            <a:endParaRPr lang="en-GB" sz="2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CB8FEE-6184-4A56-893A-894FD7378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530725"/>
          </a:xfrm>
          <a:ln>
            <a:solidFill>
              <a:schemeClr val="bg2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de-DE" sz="2600" b="1" dirty="0"/>
              <a:t>Part 2: </a:t>
            </a:r>
            <a:r>
              <a:rPr lang="de-DE" sz="2600" b="1" dirty="0" err="1"/>
              <a:t>Applications</a:t>
            </a:r>
            <a:r>
              <a:rPr lang="de-DE" sz="2600" b="1" dirty="0"/>
              <a:t>          (Domains + Deep Learning)</a:t>
            </a:r>
            <a:endParaRPr lang="en-GB" sz="26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de-DE" sz="2400" dirty="0" err="1"/>
              <a:t>Machine</a:t>
            </a:r>
            <a:r>
              <a:rPr lang="de-DE" sz="2400" dirty="0"/>
              <a:t> Learning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Tabular</a:t>
            </a:r>
            <a:r>
              <a:rPr lang="de-DE" sz="2400" dirty="0"/>
              <a:t> Data </a:t>
            </a:r>
            <a:r>
              <a:rPr lang="en-GB" sz="1500" dirty="0"/>
              <a:t>Random Forest, Gradient Boosting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de-DE" sz="2400" dirty="0"/>
              <a:t>Deep Learning </a:t>
            </a:r>
            <a:r>
              <a:rPr lang="de-DE" sz="2400" dirty="0" err="1"/>
              <a:t>with</a:t>
            </a:r>
            <a:r>
              <a:rPr lang="de-DE" sz="2400" dirty="0"/>
              <a:t> </a:t>
            </a:r>
            <a:r>
              <a:rPr lang="de-DE" sz="2400" dirty="0" err="1"/>
              <a:t>PyTorch</a:t>
            </a:r>
            <a:endParaRPr lang="en-GB" sz="24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2400" dirty="0"/>
              <a:t>Computer Vision		    </a:t>
            </a:r>
            <a:r>
              <a:rPr lang="de-DE" sz="1500" dirty="0" err="1"/>
              <a:t>Convolutional</a:t>
            </a:r>
            <a:r>
              <a:rPr lang="de-DE" sz="1500" dirty="0"/>
              <a:t> </a:t>
            </a:r>
            <a:r>
              <a:rPr lang="de-DE" sz="1500" dirty="0" err="1"/>
              <a:t>Neural</a:t>
            </a:r>
            <a:r>
              <a:rPr lang="de-DE" sz="1500" dirty="0"/>
              <a:t> Networks, Image Classification, </a:t>
            </a:r>
            <a:r>
              <a:rPr lang="de-DE" sz="1500" dirty="0" err="1"/>
              <a:t>Object</a:t>
            </a:r>
            <a:r>
              <a:rPr lang="de-DE" sz="1500" dirty="0"/>
              <a:t> </a:t>
            </a:r>
            <a:r>
              <a:rPr lang="de-DE" sz="1500" dirty="0" err="1"/>
              <a:t>Detection</a:t>
            </a:r>
            <a:r>
              <a:rPr lang="de-DE" sz="1500" dirty="0"/>
              <a:t>, Segmentation, Image Synthesis</a:t>
            </a:r>
            <a:endParaRPr lang="en-GB" sz="15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de-DE" sz="2400" dirty="0"/>
              <a:t>NLP &amp; Large Language Models </a:t>
            </a:r>
            <a:r>
              <a:rPr lang="en-GB" sz="1500" dirty="0"/>
              <a:t>Transformers, </a:t>
            </a:r>
            <a:r>
              <a:rPr lang="de-DE" sz="1500" dirty="0"/>
              <a:t>Text Analysis, Generative AI, Chatbots, Agent Systems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de-DE" sz="2400" dirty="0"/>
              <a:t>Control &amp; Reinforcement Learning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336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Microsoft Macintosh PowerPoint</Application>
  <PresentationFormat>Breitbild</PresentationFormat>
  <Paragraphs>98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AccordAlternate</vt:lpstr>
      <vt:lpstr>Aptos</vt:lpstr>
      <vt:lpstr>Aptos Display</vt:lpstr>
      <vt:lpstr>Arial</vt:lpstr>
      <vt:lpstr>Wingdings</vt:lpstr>
      <vt:lpstr>Office Theme</vt:lpstr>
      <vt:lpstr>Introduction</vt:lpstr>
      <vt:lpstr>Main Areas of Artificial Intelligence (AI)</vt:lpstr>
      <vt:lpstr>When to Use AI/ML</vt:lpstr>
      <vt:lpstr>PowerPoint-Präsentation</vt:lpstr>
      <vt:lpstr>What Is Machine Learning?</vt:lpstr>
      <vt:lpstr>PowerPoint-Präsentation</vt:lpstr>
      <vt:lpstr>Supervised Learning</vt:lpstr>
      <vt:lpstr>Used Programming Language: Python</vt:lpstr>
      <vt:lpstr>Programming Environments</vt:lpstr>
      <vt:lpstr>Course Schedule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37</cp:revision>
  <dcterms:created xsi:type="dcterms:W3CDTF">2025-01-08T09:27:30Z</dcterms:created>
  <dcterms:modified xsi:type="dcterms:W3CDTF">2026-03-01T19:45:38Z</dcterms:modified>
</cp:coreProperties>
</file>