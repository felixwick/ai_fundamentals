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256" r:id="rId2"/>
    <p:sldId id="648" r:id="rId3"/>
    <p:sldId id="771" r:id="rId4"/>
    <p:sldId id="772" r:id="rId5"/>
    <p:sldId id="677" r:id="rId6"/>
    <p:sldId id="678" r:id="rId7"/>
    <p:sldId id="679" r:id="rId8"/>
    <p:sldId id="270" r:id="rId9"/>
    <p:sldId id="267" r:id="rId10"/>
    <p:sldId id="720" r:id="rId11"/>
    <p:sldId id="682" r:id="rId12"/>
    <p:sldId id="797" r:id="rId13"/>
    <p:sldId id="684" r:id="rId14"/>
    <p:sldId id="800" r:id="rId15"/>
    <p:sldId id="798" r:id="rId16"/>
    <p:sldId id="799" r:id="rId17"/>
    <p:sldId id="273" r:id="rId18"/>
    <p:sldId id="773" r:id="rId19"/>
    <p:sldId id="310" r:id="rId20"/>
    <p:sldId id="311" r:id="rId21"/>
    <p:sldId id="274" r:id="rId22"/>
    <p:sldId id="801" r:id="rId23"/>
    <p:sldId id="803" r:id="rId24"/>
    <p:sldId id="802" r:id="rId25"/>
    <p:sldId id="774" r:id="rId26"/>
    <p:sldId id="775" r:id="rId27"/>
    <p:sldId id="725" r:id="rId28"/>
    <p:sldId id="666" r:id="rId29"/>
    <p:sldId id="667" r:id="rId30"/>
    <p:sldId id="804" r:id="rId31"/>
    <p:sldId id="78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28/05/2026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7BB845-5EDE-4644-BE7F-B673B342B3A7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3545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28/05/2026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28/05/2026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28/05/2026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28/05/2026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28/05/2026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28/05/2026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28/05/2026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28/05/2026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28/05/2026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28/05/2026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28/05/2026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28/05/2026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eeplearningbook.org/contents/numerical.html" TargetMode="Externa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hyperlink" Target="https://allmodelsarewrong.github.io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eplearningbook.org/contents/intro.html" TargetMode="External"/><Relationship Id="rId7" Type="http://schemas.openxmlformats.org/officeDocument/2006/relationships/hyperlink" Target="https://fleuret.org/public/lbdl.pdf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hyperlink" Target="http://robotics.stanford.edu/~ang/papers/icml09-ConvolutionalDeepBeliefNetworks.pdf" TargetMode="Externa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iff"/><Relationship Id="rId7" Type="http://schemas.openxmlformats.org/officeDocument/2006/relationships/hyperlink" Target="https://cs231n.github.io/neural-networks-1/" TargetMode="External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2.png"/><Relationship Id="rId5" Type="http://schemas.openxmlformats.org/officeDocument/2006/relationships/image" Target="../media/image18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2.png"/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kynettoday.com/overviews/neural-net-history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../media/image22.svg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../media/image37.png"/><Relationship Id="rId16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xiv.org/pdf/1712.09913.pdf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jmlr.org/papers/volume15/srivastava14a/srivastava14a.pdf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e2eml.school/batch_normalization.html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1502.03167" TargetMode="External"/><Relationship Id="rId4" Type="http://schemas.openxmlformats.org/officeDocument/2006/relationships/image" Target="../media/image2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eeplearningbook.org/contents/regularization.html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ompetitions/leaf-classification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Deep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Fundamentals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Artificial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90111-D58E-0B4D-939E-305F3D3D2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35CC49E-F2CE-6500-BDF9-A55D38C57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ML algorithm by combining: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model</a:t>
            </a:r>
            <a:r>
              <a:rPr lang="en-GB" dirty="0"/>
              <a:t> </a:t>
            </a:r>
            <a:r>
              <a:rPr lang="en-GB" b="0" dirty="0"/>
              <a:t>(e.g., linear function &amp; Gaussian distribution)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objective function</a:t>
            </a:r>
            <a:r>
              <a:rPr lang="en-GB" dirty="0"/>
              <a:t> </a:t>
            </a:r>
            <a:r>
              <a:rPr lang="en-GB" b="0" dirty="0"/>
              <a:t>(e.g., squared residuals)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optimization algorithm</a:t>
            </a:r>
            <a:r>
              <a:rPr lang="en-GB" dirty="0"/>
              <a:t> </a:t>
            </a:r>
            <a:r>
              <a:rPr lang="en-GB" b="0" dirty="0"/>
              <a:t>(e.g., gradient descent)</a:t>
            </a:r>
          </a:p>
          <a:p>
            <a:pPr marL="0" indent="0">
              <a:buNone/>
            </a:pP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b="1" dirty="0"/>
              <a:t>regularization</a:t>
            </a:r>
            <a:r>
              <a:rPr lang="en-GB" dirty="0"/>
              <a:t> (e.g., L2, dropout)</a:t>
            </a:r>
            <a:endParaRPr lang="en-DE" b="1" dirty="0"/>
          </a:p>
          <a:p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525157C-A49D-E247-7350-BA66D82CC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General Recipe</a:t>
            </a:r>
            <a:r>
              <a:rPr lang="en-GB" dirty="0"/>
              <a:t> of Statistical Learning</a:t>
            </a:r>
            <a:endParaRPr lang="en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46776-1BE2-20B5-C4C5-4122077E8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77017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3EC65-4EF0-A0AE-5028-2BE1A88B1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Model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B5D667-7189-6C64-C27C-DFCC3ACA8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/>
              <p:nvPr/>
            </p:nvSpPr>
            <p:spPr>
              <a:xfrm>
                <a:off x="4216399" y="3105834"/>
                <a:ext cx="3759199" cy="6463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6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3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6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6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3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en-GB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3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GB" sz="3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FED476-420D-9280-878D-E5697FC8E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6399" y="3105834"/>
                <a:ext cx="3759199" cy="646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/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data: vector 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different feature values for this example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GB" sz="24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035968-D916-A5B8-A744-79691437C6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1400" y="1851820"/>
                <a:ext cx="4394199" cy="830997"/>
              </a:xfrm>
              <a:prstGeom prst="rect">
                <a:avLst/>
              </a:prstGeom>
              <a:blipFill>
                <a:blip r:embed="rId3"/>
                <a:stretch>
                  <a:fillRect l="-2080" t="-5882" b="-161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B378655-C947-C913-AEB0-AF68A96A2E52}"/>
              </a:ext>
            </a:extLst>
          </p:cNvPr>
          <p:cNvCxnSpPr>
            <a:cxnSpLocks/>
          </p:cNvCxnSpPr>
          <p:nvPr/>
        </p:nvCxnSpPr>
        <p:spPr>
          <a:xfrm flipH="1">
            <a:off x="6822625" y="2653288"/>
            <a:ext cx="308279" cy="646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7A8D171-393C-A8EE-07DD-37F62BA9AE69}"/>
              </a:ext>
            </a:extLst>
          </p:cNvPr>
          <p:cNvSpPr txBox="1"/>
          <p:nvPr/>
        </p:nvSpPr>
        <p:spPr>
          <a:xfrm>
            <a:off x="8046811" y="4288751"/>
            <a:ext cx="29090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single intercept parameter, aka bias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B204A23-CD5B-9576-6FFD-D25F5BFC0684}"/>
              </a:ext>
            </a:extLst>
          </p:cNvPr>
          <p:cNvCxnSpPr>
            <a:cxnSpLocks/>
          </p:cNvCxnSpPr>
          <p:nvPr/>
        </p:nvCxnSpPr>
        <p:spPr>
          <a:xfrm flipH="1" flipV="1">
            <a:off x="7738533" y="3606798"/>
            <a:ext cx="618067" cy="7281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/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vector with slope parameters (one for each of the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GB" sz="2400" dirty="0"/>
                  <a:t> features, but identical for all examples), aka weights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02FCE96-D1CF-4A67-2875-6E1CB9EC7C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588" y="4329978"/>
                <a:ext cx="5058833" cy="1200329"/>
              </a:xfrm>
              <a:prstGeom prst="rect">
                <a:avLst/>
              </a:prstGeom>
              <a:blipFill>
                <a:blip r:embed="rId4"/>
                <a:stretch>
                  <a:fillRect l="-1928" t="-4061" r="-3012" b="-1066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DA799CA-9800-4737-A656-E9792250826A}"/>
              </a:ext>
            </a:extLst>
          </p:cNvPr>
          <p:cNvCxnSpPr>
            <a:cxnSpLocks/>
          </p:cNvCxnSpPr>
          <p:nvPr/>
        </p:nvCxnSpPr>
        <p:spPr>
          <a:xfrm flipV="1">
            <a:off x="5054600" y="3606798"/>
            <a:ext cx="905933" cy="795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668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9CA8E-C03E-64F5-F46E-69F868D24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E8211-6E28-FC0A-BE28-FCA717898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Loss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BBF559-6F44-8DE4-35FB-FB8AF281CC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DE" sz="2600" dirty="0"/>
                  <a:t>loss function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GB" sz="2600" dirty="0"/>
                  <a:t>: expressing d</a:t>
                </a:r>
                <a:r>
                  <a:rPr lang="en-DE" sz="2600"/>
                  <a:t>eviation between prediction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de-DE" sz="2600" dirty="0"/>
                  <a:t> </a:t>
                </a:r>
                <a:r>
                  <a:rPr lang="en-DE" sz="2600"/>
                  <a:t>and target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600" dirty="0"/>
                  <a:t>	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b="1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de-DE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</m:d>
                  </m:oMath>
                </a14:m>
                <a:endParaRPr lang="en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en-DE" sz="2600"/>
                  <a:t>with </a:t>
                </a:r>
                <a14:m>
                  <m:oMath xmlns:m="http://schemas.openxmlformats.org/officeDocument/2006/math"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GB" sz="2600" dirty="0"/>
                  <a:t> corresponding to p</a:t>
                </a:r>
                <a:r>
                  <a:rPr lang="en-DE" sz="2600"/>
                  <a:t>arameters of </a:t>
                </a:r>
                <a:r>
                  <a:rPr lang="en-DE" sz="2600" dirty="0"/>
                  <a:t>model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US" sz="2600" b="1" dirty="0"/>
              </a:p>
              <a:p>
                <a:pPr marL="0" indent="0">
                  <a:buNone/>
                </a:pPr>
                <a:r>
                  <a:rPr lang="de-DE" sz="2000" dirty="0"/>
                  <a:t>(</a:t>
                </a:r>
                <a:r>
                  <a:rPr lang="de-DE" sz="2000" dirty="0" err="1"/>
                  <a:t>for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sake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of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clarity</a:t>
                </a:r>
                <a:r>
                  <a:rPr lang="de-DE" sz="2000" dirty="0"/>
                  <a:t>, </a:t>
                </a:r>
                <a:r>
                  <a:rPr lang="de-DE" sz="2000" dirty="0" err="1"/>
                  <a:t>include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bias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en-GB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DE" sz="2000"/>
                  <a:t> in </a:t>
                </a:r>
                <a14:m>
                  <m:oMath xmlns:m="http://schemas.openxmlformats.org/officeDocument/2006/math"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de-DE" sz="2000" dirty="0"/>
                  <a:t>)</a:t>
                </a:r>
                <a:endParaRPr lang="en-DE" sz="2000" dirty="0"/>
              </a:p>
              <a:p>
                <a:pPr marL="0" indent="0">
                  <a:buNone/>
                </a:pPr>
                <a:endParaRPr lang="en-DE" sz="2600" dirty="0"/>
              </a:p>
              <a:p>
                <a:pPr marL="0" indent="0">
                  <a:buNone/>
                </a:pPr>
                <a:r>
                  <a:rPr lang="de-DE" sz="2600" dirty="0"/>
                  <a:t>prime example: squared residuals for regression problems</a:t>
                </a:r>
                <a:endParaRPr lang="en-DE" sz="2600" dirty="0"/>
              </a:p>
              <a:p>
                <a:pPr marL="0" indent="0">
                  <a:buNone/>
                </a:pPr>
                <a:r>
                  <a:rPr lang="en-US" sz="2600" dirty="0"/>
                  <a:t>	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de-DE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sz="2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de-DE" sz="26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BBF559-6F44-8DE4-35FB-FB8AF281CC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E6745-8E61-0E4E-CBDB-9D3EC9CAB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36171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AEA11-22CD-E386-94C6-DAB4CB196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49369-FB6B-41DF-A9C7-977BF7B3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a</a:t>
                </a:r>
                <a:r>
                  <a:rPr lang="en-DE" dirty="0"/>
                  <a:t>veraging losses </a:t>
                </a:r>
                <a:r>
                  <a:rPr lang="en-DE"/>
                  <a:t>over empirical </a:t>
                </a:r>
                <a:r>
                  <a:rPr lang="en-DE" dirty="0"/>
                  <a:t>training data set:</a:t>
                </a:r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de-DE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DE" dirty="0"/>
              </a:p>
              <a:p>
                <a:pPr marL="0" indent="0">
                  <a:buNone/>
                </a:pPr>
                <a:endParaRPr lang="en-DE" dirty="0"/>
              </a:p>
              <a:p>
                <a:pPr marL="0" indent="0">
                  <a:buNone/>
                </a:pPr>
                <a:r>
                  <a:rPr lang="en-GB" dirty="0"/>
                  <a:t>c</a:t>
                </a:r>
                <a:r>
                  <a:rPr lang="en-DE" dirty="0"/>
                  <a:t>ost function to be minimized according to model parameters </a:t>
                </a: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endParaRPr lang="en-DE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dirty="0">
                    <a:sym typeface="Wingdings" pitchFamily="2" charset="2"/>
                  </a:rPr>
                  <a:t> objective function</a:t>
                </a: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B94945-E694-0A8C-469A-0C2A1B08F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30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1CB90B-B030-56D5-18F0-E79822C1A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359442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8CF78-256C-97D1-B23F-ACF29DA65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90BE2-6879-4439-9C1B-73130756F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Cost Minimization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A7C25D-7433-AF3A-BB24-51178956E5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m</a:t>
                </a:r>
                <a:r>
                  <a:rPr lang="en-DE" sz="2600" dirty="0"/>
                  <a:t>inimize training costs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DE" sz="2600" dirty="0"/>
                  <a:t> according to model parameters </a:t>
                </a:r>
                <a14:m>
                  <m:oMath xmlns:m="http://schemas.openxmlformats.org/officeDocument/2006/math">
                    <m:r>
                      <a:rPr lang="de-DE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sz="2600" dirty="0"/>
                  <a:t>	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f</a:t>
                </a:r>
                <a:r>
                  <a:rPr lang="en-DE" sz="2600" dirty="0"/>
                  <a:t>or mean squared error</a:t>
                </a:r>
                <a:r>
                  <a:rPr lang="en-GB" sz="2600" dirty="0"/>
                  <a:t> (aka least squares method)</a:t>
                </a:r>
                <a:r>
                  <a:rPr lang="en-DE" sz="2600" dirty="0"/>
                  <a:t>:</a:t>
                </a:r>
                <a:endParaRPr lang="en-DE" sz="1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6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26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6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sz="26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US" sz="2600" b="0" i="1" smtClean="0"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de-DE" sz="26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DE" sz="2600" dirty="0"/>
                  <a:t>	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A7C25D-7433-AF3A-BB24-51178956E5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45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31C96-7E78-84A2-8507-DB47BC4F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01309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E414F-11C2-BCCE-F387-4D57F2D85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C5CD2-2C81-0690-1A89-81D61EC3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Descent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typically</a:t>
                </a:r>
                <a:r>
                  <a:rPr lang="en-DE" sz="2400" dirty="0"/>
                  <a:t> no closed-form solution to minimization of cost function: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GB" sz="2400" dirty="0">
                  <a:sym typeface="Wingdings" pitchFamily="2" charset="2"/>
                </a:endParaRPr>
              </a:p>
              <a:p>
                <a:pPr>
                  <a:buFont typeface="Wingdings" pitchFamily="2" charset="2"/>
                  <a:buChar char="à"/>
                </a:pPr>
                <a:r>
                  <a:rPr lang="en-DE" sz="2400" dirty="0">
                    <a:sym typeface="Wingdings" pitchFamily="2" charset="2"/>
                  </a:rPr>
                  <a:t> need for numerical methods</a:t>
                </a:r>
              </a:p>
              <a:p>
                <a:pPr marL="0" indent="0">
                  <a:buNone/>
                </a:pPr>
                <a:endParaRPr lang="de-DE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400" dirty="0">
                    <a:sym typeface="Wingdings" pitchFamily="2" charset="2"/>
                  </a:rPr>
                  <a:t>popular choice: </a:t>
                </a:r>
                <a:r>
                  <a:rPr lang="en-GB" sz="2400" dirty="0">
                    <a:sym typeface="Wingdings" pitchFamily="2" charset="2"/>
                  </a:rPr>
                  <a:t>g</a:t>
                </a:r>
                <a:r>
                  <a:rPr lang="en-DE" sz="2400" dirty="0">
                    <a:sym typeface="Wingdings" pitchFamily="2" charset="2"/>
                  </a:rPr>
                  <a:t>radient descent</a:t>
                </a:r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iteratively m</a:t>
                </a:r>
                <a:r>
                  <a:rPr lang="en-DE" sz="2400" dirty="0">
                    <a:sym typeface="Wingdings" pitchFamily="2" charset="2"/>
                  </a:rPr>
                  <a:t>oving in direction of steepest descent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en-DE" sz="2400" dirty="0">
                    <a:sym typeface="Wingdings" pitchFamily="2" charset="2"/>
                  </a:rPr>
                  <a:t>negative gradient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  <a:r>
                  <a:rPr lang="en-DE" sz="2400" dirty="0">
                    <a:sym typeface="Wingdings" pitchFamily="2" charset="2"/>
                  </a:rPr>
                  <a:t>: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E9C1FC-77AE-C11F-AB9B-1CCFAE940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398193" cy="4351338"/>
              </a:xfrm>
              <a:blipFill>
                <a:blip r:embed="rId2"/>
                <a:stretch>
                  <a:fillRect l="-1372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11602-9C3D-A071-FD1B-23D2C0BFF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7</a:t>
            </a:fld>
            <a:endParaRPr lang="en-DE"/>
          </a:p>
        </p:txBody>
      </p:sp>
      <p:pic>
        <p:nvPicPr>
          <p:cNvPr id="7" name="Picture 6" descr="Chart, surface chart&#10;&#10;Description automatically generated">
            <a:extLst>
              <a:ext uri="{FF2B5EF4-FFF2-40B4-BE49-F238E27FC236}">
                <a16:creationId xmlns:a16="http://schemas.microsoft.com/office/drawing/2014/main" id="{A381A97C-0D9F-1233-3FBE-C1BC7F100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388343" y="3890455"/>
            <a:ext cx="3750087" cy="2545491"/>
          </a:xfrm>
          <a:prstGeom prst="rect">
            <a:avLst/>
          </a:prstGeom>
        </p:spPr>
      </p:pic>
      <p:pic>
        <p:nvPicPr>
          <p:cNvPr id="9" name="Picture 8" descr="A picture containing diagram&#10;&#10;Description automatically generated">
            <a:extLst>
              <a:ext uri="{FF2B5EF4-FFF2-40B4-BE49-F238E27FC236}">
                <a16:creationId xmlns:a16="http://schemas.microsoft.com/office/drawing/2014/main" id="{E1A38A98-0CED-BDB4-C0E4-F0398663E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393" y="854739"/>
            <a:ext cx="3902037" cy="28819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4C82B48-760E-C7A2-0E3D-AD57903A0580}"/>
              </a:ext>
            </a:extLst>
          </p:cNvPr>
          <p:cNvSpPr txBox="1"/>
          <p:nvPr/>
        </p:nvSpPr>
        <p:spPr>
          <a:xfrm>
            <a:off x="2228193" y="4984252"/>
            <a:ext cx="19947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s</a:t>
            </a:r>
            <a:r>
              <a:rPr lang="en-DE" sz="2400" dirty="0"/>
              <a:t>tep size (</a:t>
            </a:r>
            <a:r>
              <a:rPr lang="en-GB" sz="2400" dirty="0"/>
              <a:t>l</a:t>
            </a:r>
            <a:r>
              <a:rPr lang="en-DE" sz="2400" dirty="0"/>
              <a:t>earning rate)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5A43D22-2854-C14B-442A-518D57A8B47B}"/>
              </a:ext>
            </a:extLst>
          </p:cNvPr>
          <p:cNvCxnSpPr>
            <a:cxnSpLocks/>
          </p:cNvCxnSpPr>
          <p:nvPr/>
        </p:nvCxnSpPr>
        <p:spPr>
          <a:xfrm flipV="1">
            <a:off x="3563007" y="4572780"/>
            <a:ext cx="1145627" cy="5097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68A98EB-F486-C2EB-9887-D220984E6A5F}"/>
              </a:ext>
            </a:extLst>
          </p:cNvPr>
          <p:cNvSpPr txBox="1"/>
          <p:nvPr/>
        </p:nvSpPr>
        <p:spPr>
          <a:xfrm>
            <a:off x="4413642" y="5040539"/>
            <a:ext cx="3825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v</a:t>
            </a:r>
            <a:r>
              <a:rPr lang="en-DE" dirty="0"/>
              <a:t>ector containing all partial derivatives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51CA1E-11C8-24C6-C49A-8958A2988C58}"/>
              </a:ext>
            </a:extLst>
          </p:cNvPr>
          <p:cNvCxnSpPr>
            <a:cxnSpLocks/>
          </p:cNvCxnSpPr>
          <p:nvPr/>
        </p:nvCxnSpPr>
        <p:spPr>
          <a:xfrm flipV="1">
            <a:off x="5014021" y="4677103"/>
            <a:ext cx="0" cy="4054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76E224D5-1DEC-F2F7-1AE7-F20F8D01E5DA}"/>
              </a:ext>
            </a:extLst>
          </p:cNvPr>
          <p:cNvSpPr txBox="1"/>
          <p:nvPr/>
        </p:nvSpPr>
        <p:spPr>
          <a:xfrm>
            <a:off x="11458836" y="366511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8A8E21-F4EB-12BE-70B8-4C89D90A0605}"/>
              </a:ext>
            </a:extLst>
          </p:cNvPr>
          <p:cNvSpPr txBox="1"/>
          <p:nvPr/>
        </p:nvSpPr>
        <p:spPr>
          <a:xfrm>
            <a:off x="7823525" y="4133318"/>
            <a:ext cx="157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l</a:t>
            </a:r>
            <a:r>
              <a:rPr lang="en-DE" dirty="0"/>
              <a:t>ocal minimum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B37612-F7DC-6CE5-53D1-EFF3CBD90697}"/>
              </a:ext>
            </a:extLst>
          </p:cNvPr>
          <p:cNvSpPr txBox="1"/>
          <p:nvPr/>
        </p:nvSpPr>
        <p:spPr>
          <a:xfrm>
            <a:off x="10981267" y="4249615"/>
            <a:ext cx="11571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</a:t>
            </a:r>
            <a:r>
              <a:rPr lang="en-DE" dirty="0"/>
              <a:t>lobal minimum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A0A7BF8-C044-832F-CC75-16B8215D7377}"/>
              </a:ext>
            </a:extLst>
          </p:cNvPr>
          <p:cNvCxnSpPr/>
          <p:nvPr/>
        </p:nvCxnSpPr>
        <p:spPr>
          <a:xfrm>
            <a:off x="8610600" y="4572780"/>
            <a:ext cx="449940" cy="7636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756089E-0DC2-5014-297C-211945C8714F}"/>
              </a:ext>
            </a:extLst>
          </p:cNvPr>
          <p:cNvCxnSpPr>
            <a:cxnSpLocks/>
            <a:stCxn id="26" idx="2"/>
          </p:cNvCxnSpPr>
          <p:nvPr/>
        </p:nvCxnSpPr>
        <p:spPr>
          <a:xfrm flipH="1">
            <a:off x="10899890" y="4895946"/>
            <a:ext cx="659959" cy="804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639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6F16FEB-005B-4365-D67C-8FB7C804F3D6}"/>
              </a:ext>
            </a:extLst>
          </p:cNvPr>
          <p:cNvSpPr/>
          <p:nvPr/>
        </p:nvSpPr>
        <p:spPr>
          <a:xfrm>
            <a:off x="5127544" y="2281980"/>
            <a:ext cx="1072683" cy="42351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DE" sz="2400" dirty="0"/>
                  <a:t>add </a:t>
                </a:r>
                <a:r>
                  <a:rPr lang="en-DE" sz="2400" b="1" dirty="0"/>
                  <a:t>penalty term</a:t>
                </a:r>
                <a:r>
                  <a:rPr lang="en-DE" sz="24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norm to cost function</a:t>
                </a:r>
                <a:endParaRPr lang="en-GB" sz="24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</m:acc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GB" sz="2400" dirty="0"/>
                  <a:t>	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aka </a:t>
                </a:r>
                <a:r>
                  <a:rPr lang="en-GB" sz="2400" b="1" dirty="0"/>
                  <a:t>w</a:t>
                </a:r>
                <a:r>
                  <a:rPr lang="en-DE" sz="2400" b="1" dirty="0"/>
                  <a:t>eight decay</a:t>
                </a:r>
                <a:r>
                  <a:rPr lang="en-DE" sz="2400" dirty="0"/>
                  <a:t> </a:t>
                </a:r>
                <a:r>
                  <a:rPr lang="en-GB" sz="2400" dirty="0"/>
                  <a:t>in </a:t>
                </a:r>
                <a:r>
                  <a:rPr lang="en-DE" sz="2400" dirty="0"/>
                  <a:t>neural networks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sz="24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400" dirty="0"/>
                  <a:t>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/>
                  <a:t>goal: reduce overfitting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859A9B-43F1-6828-A55D-B8946C4852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26400" cy="4351338"/>
              </a:xfrm>
              <a:blipFill>
                <a:blip r:embed="rId2"/>
                <a:stretch>
                  <a:fillRect l="-1266" t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D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DE" dirty="0"/>
                  <a:t> Regularization (Ridge Regression)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6FE75F7-5391-7309-EAAE-E2CC19916A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E6C35-9946-346B-1491-7CF0F93B7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8</a:t>
            </a:fld>
            <a:endParaRPr lang="en-D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607F70-DB94-E3A4-9C21-845042D375B6}"/>
              </a:ext>
            </a:extLst>
          </p:cNvPr>
          <p:cNvSpPr txBox="1"/>
          <p:nvPr/>
        </p:nvSpPr>
        <p:spPr>
          <a:xfrm>
            <a:off x="6747516" y="2720972"/>
            <a:ext cx="2971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hyperparameter controlling strength of regularization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915AF1-2E35-7C0C-1A2A-6AE6979D378E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5276193" y="2617076"/>
            <a:ext cx="1471323" cy="427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92BE184-17EE-226A-FC0B-C92B251C851C}"/>
              </a:ext>
            </a:extLst>
          </p:cNvPr>
          <p:cNvSpPr txBox="1"/>
          <p:nvPr/>
        </p:nvSpPr>
        <p:spPr>
          <a:xfrm>
            <a:off x="10821282" y="588362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59BDF090-ED9E-25B6-9B10-AA53CEE3B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10600" y="3347586"/>
            <a:ext cx="3386010" cy="2830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9771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93BC8BF-B0D3-3916-A472-5A6F8B0B7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Ladder of Generalization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49ABC0-1A17-C0C6-15DE-F31CD1C78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pPr marL="0" indent="0">
              <a:buNone/>
            </a:pPr>
            <a:r>
              <a:rPr lang="en-GB" sz="2800" dirty="0"/>
              <a:t>classic ML</a:t>
            </a:r>
            <a:r>
              <a:rPr lang="en-DE" sz="2800" dirty="0"/>
              <a:t>:</a:t>
            </a:r>
            <a:r>
              <a:rPr lang="en-GB" sz="2800" dirty="0"/>
              <a:t> </a:t>
            </a:r>
            <a:r>
              <a:rPr lang="en-DE" sz="2800" dirty="0">
                <a:sym typeface="Wingdings" pitchFamily="2" charset="2"/>
              </a:rPr>
              <a:t>feature engineering</a:t>
            </a:r>
            <a:endParaRPr lang="en-GB" sz="2800" dirty="0">
              <a:sym typeface="Wingdings" pitchFamily="2" charset="2"/>
            </a:endParaRPr>
          </a:p>
          <a:p>
            <a:pPr marL="0" indent="0">
              <a:buNone/>
            </a:pPr>
            <a:endParaRPr lang="en-GB" sz="2800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sz="2800" dirty="0">
                <a:sym typeface="Wingdings" pitchFamily="2" charset="2"/>
              </a:rPr>
              <a:t>d</a:t>
            </a:r>
            <a:r>
              <a:rPr lang="en-DE" sz="2800" dirty="0">
                <a:sym typeface="Wingdings" pitchFamily="2" charset="2"/>
              </a:rPr>
              <a:t>eep learning:</a:t>
            </a:r>
            <a:r>
              <a:rPr lang="en-GB" sz="2800" dirty="0">
                <a:sym typeface="Wingdings" pitchFamily="2" charset="2"/>
              </a:rPr>
              <a:t> feature</a:t>
            </a:r>
            <a:r>
              <a:rPr lang="en-DE" sz="2800" dirty="0">
                <a:sym typeface="Wingdings" pitchFamily="2" charset="2"/>
              </a:rPr>
              <a:t> learning</a:t>
            </a:r>
          </a:p>
          <a:p>
            <a:pPr marL="0" indent="0">
              <a:buNone/>
            </a:pPr>
            <a:r>
              <a:rPr lang="en-DE" sz="2200" dirty="0">
                <a:sym typeface="Wingdings" pitchFamily="2" charset="2"/>
              </a:rPr>
              <a:t>(</a:t>
            </a:r>
            <a:r>
              <a:rPr lang="en-GB" sz="2200" dirty="0"/>
              <a:t>hierarchy of concepts learned from raw data in deep graph with many layers</a:t>
            </a:r>
            <a:r>
              <a:rPr lang="en-DE" sz="2200" dirty="0">
                <a:sym typeface="Wingdings" pitchFamily="2" charset="2"/>
              </a:rPr>
              <a:t>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F956F6-9F78-6501-0CF6-9A8BCA5FE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33A53-1B14-4784-A6BE-2DB6D72C8D95}" type="slidenum">
              <a:rPr lang="en-GB" smtClean="0"/>
              <a:t>9</a:t>
            </a:fld>
            <a:endParaRPr lang="en-GB"/>
          </a:p>
        </p:txBody>
      </p:sp>
      <p:pic>
        <p:nvPicPr>
          <p:cNvPr id="7" name="Picture 6" descr="Diagram&#10;&#10;Description automatically generated">
            <a:extLst>
              <a:ext uri="{FF2B5EF4-FFF2-40B4-BE49-F238E27FC236}">
                <a16:creationId xmlns:a16="http://schemas.microsoft.com/office/drawing/2014/main" id="{634E003F-C044-E8A0-E842-C3B011764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034" y="107152"/>
            <a:ext cx="4511565" cy="632820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BD687E-2FE5-94B4-1057-4B29BA9A2FD1}"/>
              </a:ext>
            </a:extLst>
          </p:cNvPr>
          <p:cNvSpPr txBox="1"/>
          <p:nvPr/>
        </p:nvSpPr>
        <p:spPr>
          <a:xfrm>
            <a:off x="11547626" y="5685041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9" name="Picture 8" descr="A picture containing text, electronics, keyboard&#10;&#10;Description automatically generated">
            <a:extLst>
              <a:ext uri="{FF2B5EF4-FFF2-40B4-BE49-F238E27FC236}">
                <a16:creationId xmlns:a16="http://schemas.microsoft.com/office/drawing/2014/main" id="{F2064758-0B5D-4E1F-86FD-B031D13506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73" y="4230465"/>
            <a:ext cx="3370428" cy="22489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A137DE7-30B5-EAB5-9008-BA47B670E7EB}"/>
              </a:ext>
            </a:extLst>
          </p:cNvPr>
          <p:cNvSpPr txBox="1"/>
          <p:nvPr/>
        </p:nvSpPr>
        <p:spPr>
          <a:xfrm>
            <a:off x="2982133" y="6468950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D10A69-D9C1-EEE9-65B4-3028D7466D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0238" y="4230465"/>
            <a:ext cx="2049456" cy="24426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5E3CDA1-A784-3866-83D9-5EB8EC652432}"/>
              </a:ext>
            </a:extLst>
          </p:cNvPr>
          <p:cNvSpPr txBox="1"/>
          <p:nvPr/>
        </p:nvSpPr>
        <p:spPr>
          <a:xfrm>
            <a:off x="6048983" y="6527804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7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523308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D0645-630D-1502-6A1F-DA72FDA81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35979-52B4-A29B-F58D-F58C9D9E2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idea: </a:t>
            </a:r>
            <a:r>
              <a:rPr lang="en-DE" sz="2800" dirty="0"/>
              <a:t>powerful algorithm </a:t>
            </a:r>
            <a:r>
              <a:rPr lang="en-GB" dirty="0"/>
              <a:t>by combining many </a:t>
            </a:r>
            <a:r>
              <a:rPr lang="en-DE" sz="2800" dirty="0"/>
              <a:t>linear building blocks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7EC292-806F-911B-04FA-FE926D6BD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10</a:t>
            </a:fld>
            <a:endParaRPr lang="en-DE"/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3256AACA-A646-9422-4F4B-08B7F5E01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794" y="2717797"/>
            <a:ext cx="6908412" cy="27205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8CF96E7-6D06-ED32-E110-4F1266FFBAFA}"/>
              </a:ext>
            </a:extLst>
          </p:cNvPr>
          <p:cNvSpPr txBox="1"/>
          <p:nvPr/>
        </p:nvSpPr>
        <p:spPr>
          <a:xfrm>
            <a:off x="1816197" y="5792242"/>
            <a:ext cx="8559606" cy="76944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DE" sz="2200" dirty="0"/>
              <a:t>each node exchanges information only with directly connected nodes </a:t>
            </a:r>
            <a:r>
              <a:rPr lang="en-DE" sz="2200" dirty="0">
                <a:sym typeface="Wingdings" pitchFamily="2" charset="2"/>
              </a:rPr>
              <a:t></a:t>
            </a:r>
            <a:r>
              <a:rPr lang="en-GB" sz="2200" dirty="0">
                <a:sym typeface="Wingdings" pitchFamily="2" charset="2"/>
              </a:rPr>
              <a:t> </a:t>
            </a:r>
            <a:r>
              <a:rPr lang="en-DE" sz="2200" dirty="0">
                <a:sym typeface="Wingdings" pitchFamily="2" charset="2"/>
              </a:rPr>
              <a:t>parallel computation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D563EFD-09B1-5A5D-4E5D-576062E36EF6}"/>
                  </a:ext>
                </a:extLst>
              </p:cNvPr>
              <p:cNvSpPr txBox="1"/>
              <p:nvPr/>
            </p:nvSpPr>
            <p:spPr>
              <a:xfrm>
                <a:off x="397410" y="4607340"/>
                <a:ext cx="2067104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200" dirty="0" err="1"/>
                  <a:t>intensity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pixel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i="1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D563EFD-09B1-5A5D-4E5D-576062E36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410" y="4607340"/>
                <a:ext cx="2067104" cy="430887"/>
              </a:xfrm>
              <a:prstGeom prst="rect">
                <a:avLst/>
              </a:prstGeom>
              <a:blipFill>
                <a:blip r:embed="rId3"/>
                <a:stretch>
                  <a:fillRect l="-3681" t="-8571" b="-257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BBFF21D-EB06-80A9-44BC-1649CDF28BC9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2464514" y="4031568"/>
            <a:ext cx="1537383" cy="7912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2577C71-5633-EC4B-DACB-26208C7A1465}"/>
                  </a:ext>
                </a:extLst>
              </p:cNvPr>
              <p:cNvSpPr txBox="1"/>
              <p:nvPr/>
            </p:nvSpPr>
            <p:spPr>
              <a:xfrm>
                <a:off x="397410" y="3822578"/>
                <a:ext cx="2067104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200" dirty="0" err="1"/>
                  <a:t>intensity</a:t>
                </a:r>
                <a:r>
                  <a:rPr lang="de-DE" sz="2200" dirty="0"/>
                  <a:t> </a:t>
                </a:r>
                <a:r>
                  <a:rPr lang="de-DE" sz="2200" dirty="0" err="1"/>
                  <a:t>pixel</a:t>
                </a:r>
                <a:r>
                  <a:rPr lang="de-DE" sz="2200" dirty="0"/>
                  <a:t> </a:t>
                </a:r>
                <a14:m>
                  <m:oMath xmlns:m="http://schemas.openxmlformats.org/officeDocument/2006/math">
                    <m:r>
                      <a:rPr lang="de-DE" sz="2200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de-DE" sz="22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72577C71-5633-EC4B-DACB-26208C7A14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410" y="3822578"/>
                <a:ext cx="2067104" cy="430887"/>
              </a:xfrm>
              <a:prstGeom prst="rect">
                <a:avLst/>
              </a:prstGeom>
              <a:blipFill>
                <a:blip r:embed="rId4"/>
                <a:stretch>
                  <a:fillRect l="-3681" t="-5556" b="-2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2DCA1AA-A73E-C8F8-6D9A-6B6245DDD49D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2464514" y="3317751"/>
            <a:ext cx="1537383" cy="7202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B8AB4BF2-90C0-7CD0-56EC-71CC994673E3}"/>
              </a:ext>
            </a:extLst>
          </p:cNvPr>
          <p:cNvSpPr txBox="1"/>
          <p:nvPr/>
        </p:nvSpPr>
        <p:spPr>
          <a:xfrm>
            <a:off x="279268" y="3122406"/>
            <a:ext cx="230338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e.g., digital </a:t>
            </a:r>
            <a:r>
              <a:rPr lang="de-DE" sz="2200" dirty="0" err="1"/>
              <a:t>image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3918285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CB39B5-6523-02D9-3D27-550AE049CC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6529553" cy="435133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l</a:t>
                </a:r>
                <a:r>
                  <a:rPr lang="en-DE" sz="2600" dirty="0"/>
                  <a:t>inear model with parameters called weights </a:t>
                </a:r>
                <a14:m>
                  <m:oMath xmlns:m="http://schemas.openxmlformats.org/officeDocument/2006/math">
                    <m:r>
                      <a:rPr lang="en-US" sz="26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de-DE" sz="2600" dirty="0"/>
                  <a:t> (including </a:t>
                </a:r>
                <a:r>
                  <a:rPr lang="en-GB" sz="2600" dirty="0">
                    <a:sym typeface="Wingdings" pitchFamily="2" charset="2"/>
                  </a:rPr>
                  <a:t>b</a:t>
                </a:r>
                <a:r>
                  <a:rPr lang="en-DE" sz="2600" dirty="0">
                    <a:sym typeface="Wingdings" pitchFamily="2" charset="2"/>
                  </a:rPr>
                  <a:t>ias</a:t>
                </a:r>
                <a:r>
                  <a:rPr lang="en-GB" sz="2600" dirty="0">
                    <a:sym typeface="Wingdings" pitchFamily="2" charset="2"/>
                  </a:rPr>
                  <a:t>, not shown for simplicity</a:t>
                </a:r>
                <a:r>
                  <a:rPr lang="de-DE" sz="2600" dirty="0"/>
                  <a:t>)</a:t>
                </a:r>
                <a:endParaRPr lang="en-DE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non-linear via (differentiable) a</a:t>
                </a:r>
                <a:r>
                  <a:rPr lang="en-DE" sz="2600" dirty="0"/>
                  <a:t>ctivation function on</a:t>
                </a:r>
                <a:r>
                  <a:rPr lang="de-DE" sz="2600" dirty="0"/>
                  <a:t> top of linear model</a:t>
                </a:r>
              </a:p>
              <a:p>
                <a:pPr marL="0" indent="0">
                  <a:buNone/>
                </a:pPr>
                <a:r>
                  <a:rPr lang="de-DE" sz="2600" dirty="0"/>
                  <a:t>examples:</a:t>
                </a:r>
                <a:endParaRPr lang="en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r>
                  <a:rPr lang="en-DE" sz="2600" dirty="0"/>
                  <a:t>sigmoid</a:t>
                </a:r>
                <a:endParaRPr lang="de-DE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de-DE" sz="2600" dirty="0">
                  <a:sym typeface="Wingdings" pitchFamily="2" charset="2"/>
                </a:endParaRPr>
              </a:p>
              <a:p>
                <a:r>
                  <a:rPr lang="en-DE" sz="2600" dirty="0">
                    <a:sym typeface="Wingdings" pitchFamily="2" charset="2"/>
                  </a:rPr>
                  <a:t>ReLU (Rectified Linear Unit)</a:t>
                </a:r>
                <a:endParaRPr lang="en-GB" sz="26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CB39B5-6523-02D9-3D27-550AE049CC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6529553" cy="4351338"/>
              </a:xfrm>
              <a:blipFill>
                <a:blip r:embed="rId2"/>
                <a:stretch>
                  <a:fillRect l="-1586" t="-2801" r="-158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042A0B09-1F60-32E5-15BF-5C59CCBE7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Artificial Neuron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FDC4A9-C5A0-555B-999F-EF3800256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11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0B1490-E69E-1112-041A-D7140A2F5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7752" y="1718428"/>
            <a:ext cx="4782208" cy="2169250"/>
          </a:xfrm>
          <a:prstGeom prst="rect">
            <a:avLst/>
          </a:prstGeom>
        </p:spPr>
      </p:pic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5BDB70F0-7008-09F4-DAAA-686503B147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5278" y="4581211"/>
            <a:ext cx="4824248" cy="13957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44F3EFA-027C-4F3C-FED3-9A143CF7558F}"/>
              </a:ext>
            </a:extLst>
          </p:cNvPr>
          <p:cNvSpPr txBox="1"/>
          <p:nvPr/>
        </p:nvSpPr>
        <p:spPr>
          <a:xfrm>
            <a:off x="7639708" y="1309165"/>
            <a:ext cx="4349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DE" dirty="0"/>
              <a:t>rtificial neuron </a:t>
            </a:r>
            <a:r>
              <a:rPr lang="de-DE" dirty="0"/>
              <a:t>(</a:t>
            </a:r>
            <a:r>
              <a:rPr lang="en-DE" dirty="0"/>
              <a:t>node in neural network):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6DE793-D272-6864-9D8D-54C66809B45F}"/>
              </a:ext>
            </a:extLst>
          </p:cNvPr>
          <p:cNvSpPr txBox="1"/>
          <p:nvPr/>
        </p:nvSpPr>
        <p:spPr>
          <a:xfrm>
            <a:off x="7993276" y="4145047"/>
            <a:ext cx="32789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inspired f</a:t>
            </a:r>
            <a:r>
              <a:rPr lang="en-DE" dirty="0"/>
              <a:t>rom biological neurons: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DE81C08-3ACD-7485-FB21-28706E97B6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123356" y="5520231"/>
            <a:ext cx="1945287" cy="972644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A512AD29-35DB-604E-F4B8-9ADFCF9332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41224" y="4132897"/>
            <a:ext cx="1908575" cy="12723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F70E2F8-18A5-3749-880A-49144C14DA06}"/>
              </a:ext>
            </a:extLst>
          </p:cNvPr>
          <p:cNvSpPr txBox="1"/>
          <p:nvPr/>
        </p:nvSpPr>
        <p:spPr>
          <a:xfrm>
            <a:off x="9982200" y="6068665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7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8580575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BF4E8-355F-3C6C-90B7-687820E7A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FD806DD-F09F-8F49-F089-A41734E6F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 as Nonlinear Function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263EC67-826C-C31C-502E-D7F401940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12</a:t>
            </a:fld>
            <a:endParaRPr lang="en-GB"/>
          </a:p>
        </p:txBody>
      </p:sp>
      <p:pic>
        <p:nvPicPr>
          <p:cNvPr id="2" name="Picture 4" descr="Icon&#10;&#10;Description automatically generated">
            <a:extLst>
              <a:ext uri="{FF2B5EF4-FFF2-40B4-BE49-F238E27FC236}">
                <a16:creationId xmlns:a16="http://schemas.microsoft.com/office/drawing/2014/main" id="{0480D466-5069-9077-0A7F-109CBFCC30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021" y="1910636"/>
            <a:ext cx="8413953" cy="3323511"/>
          </a:xfrm>
          <a:prstGeom prst="rect">
            <a:avLst/>
          </a:prstGeom>
        </p:spPr>
      </p:pic>
      <p:pic>
        <p:nvPicPr>
          <p:cNvPr id="5" name="Graphic 11">
            <a:extLst>
              <a:ext uri="{FF2B5EF4-FFF2-40B4-BE49-F238E27FC236}">
                <a16:creationId xmlns:a16="http://schemas.microsoft.com/office/drawing/2014/main" id="{9BB0C24B-5F44-3FCB-5735-B9D555A27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88172" y="5755330"/>
            <a:ext cx="1631387" cy="815694"/>
          </a:xfrm>
          <a:prstGeom prst="rect">
            <a:avLst/>
          </a:prstGeom>
        </p:spPr>
      </p:pic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3B9941D4-B2FB-53B3-E53F-620843B9E091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4414578" y="4520265"/>
            <a:ext cx="1395782" cy="1054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8D4200BE-648C-8EAF-C051-E015AAE1DD10}"/>
              </a:ext>
            </a:extLst>
          </p:cNvPr>
          <p:cNvSpPr txBox="1"/>
          <p:nvPr/>
        </p:nvSpPr>
        <p:spPr>
          <a:xfrm>
            <a:off x="7808245" y="5488725"/>
            <a:ext cx="4074000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2200" dirty="0" err="1"/>
              <a:t>probability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„</a:t>
            </a:r>
            <a:r>
              <a:rPr lang="de-DE" sz="2200" dirty="0" err="1"/>
              <a:t>cat</a:t>
            </a:r>
            <a:r>
              <a:rPr lang="de-DE" sz="2200" dirty="0"/>
              <a:t>“</a:t>
            </a:r>
          </a:p>
          <a:p>
            <a:r>
              <a:rPr lang="de-DE" dirty="0"/>
              <a:t>(</a:t>
            </a:r>
            <a:r>
              <a:rPr lang="de-DE" dirty="0" err="1"/>
              <a:t>softmax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activation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)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AA4E3789-60E9-1FA2-167E-A1E1910D7011}"/>
              </a:ext>
            </a:extLst>
          </p:cNvPr>
          <p:cNvCxnSpPr>
            <a:cxnSpLocks/>
            <a:stCxn id="7" idx="0"/>
          </p:cNvCxnSpPr>
          <p:nvPr/>
        </p:nvCxnSpPr>
        <p:spPr>
          <a:xfrm flipH="1" flipV="1">
            <a:off x="8662255" y="4087876"/>
            <a:ext cx="1182990" cy="14008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06A895D5-4F7D-F20B-2848-11B4C4428E4E}"/>
              </a:ext>
            </a:extLst>
          </p:cNvPr>
          <p:cNvSpPr txBox="1"/>
          <p:nvPr/>
        </p:nvSpPr>
        <p:spPr>
          <a:xfrm>
            <a:off x="4508992" y="1833728"/>
            <a:ext cx="9509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weights</a:t>
            </a:r>
            <a:endParaRPr lang="de-DE" dirty="0"/>
          </a:p>
          <a:p>
            <a:r>
              <a:rPr lang="de-DE" dirty="0"/>
              <a:t>(</a:t>
            </a:r>
            <a:r>
              <a:rPr lang="de-DE" dirty="0" err="1"/>
              <a:t>matrix</a:t>
            </a:r>
            <a:r>
              <a:rPr lang="de-DE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6D7251F-C232-4236-EA3E-C70E241F2322}"/>
                  </a:ext>
                </a:extLst>
              </p:cNvPr>
              <p:cNvSpPr txBox="1"/>
              <p:nvPr/>
            </p:nvSpPr>
            <p:spPr>
              <a:xfrm>
                <a:off x="4667962" y="5174103"/>
                <a:ext cx="133504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e.g., </a:t>
                </a:r>
                <a:r>
                  <a:rPr lang="de-DE" dirty="0" err="1"/>
                  <a:t>node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6D7251F-C232-4236-EA3E-C70E241F2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962" y="5174103"/>
                <a:ext cx="1335045" cy="369332"/>
              </a:xfrm>
              <a:prstGeom prst="rect">
                <a:avLst/>
              </a:prstGeom>
              <a:blipFill>
                <a:blip r:embed="rId5"/>
                <a:stretch>
                  <a:fillRect l="-3774" t="-6667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596551F7-F565-5DCF-5B7B-C412E241F50D}"/>
              </a:ext>
            </a:extLst>
          </p:cNvPr>
          <p:cNvSpPr txBox="1"/>
          <p:nvPr/>
        </p:nvSpPr>
        <p:spPr>
          <a:xfrm>
            <a:off x="150212" y="5734946"/>
            <a:ext cx="22558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linear </a:t>
            </a:r>
            <a:r>
              <a:rPr lang="de-DE" dirty="0" err="1"/>
              <a:t>transformation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activation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12" name="Abgerundetes Rechteck 11">
            <a:extLst>
              <a:ext uri="{FF2B5EF4-FFF2-40B4-BE49-F238E27FC236}">
                <a16:creationId xmlns:a16="http://schemas.microsoft.com/office/drawing/2014/main" id="{33ABA3DA-8B48-514F-ECAD-1BEDB1323706}"/>
              </a:ext>
            </a:extLst>
          </p:cNvPr>
          <p:cNvSpPr/>
          <p:nvPr/>
        </p:nvSpPr>
        <p:spPr>
          <a:xfrm>
            <a:off x="2575031" y="5574965"/>
            <a:ext cx="3679093" cy="1245824"/>
          </a:xfrm>
          <a:prstGeom prst="roundRect">
            <a:avLst/>
          </a:pr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0F6926A-6EF6-103E-7647-1F34E6052FD0}"/>
              </a:ext>
            </a:extLst>
          </p:cNvPr>
          <p:cNvSpPr txBox="1"/>
          <p:nvPr/>
        </p:nvSpPr>
        <p:spPr>
          <a:xfrm>
            <a:off x="4279447" y="5434691"/>
            <a:ext cx="20377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0" dirty="0"/>
              <a:t>(      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34CFB6D-E45A-2EB5-0E6B-1C846EFC239A}"/>
              </a:ext>
            </a:extLst>
          </p:cNvPr>
          <p:cNvSpPr txBox="1"/>
          <p:nvPr/>
        </p:nvSpPr>
        <p:spPr>
          <a:xfrm>
            <a:off x="6453731" y="1598055"/>
            <a:ext cx="422006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parameters</a:t>
            </a:r>
            <a:r>
              <a:rPr lang="de-DE" sz="2400" dirty="0"/>
              <a:t>: </a:t>
            </a:r>
            <a:r>
              <a:rPr lang="de-DE" sz="2400" dirty="0" err="1"/>
              <a:t>learned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E3EB6EC-5860-FBF7-EE88-9DB076680CDB}"/>
              </a:ext>
            </a:extLst>
          </p:cNvPr>
          <p:cNvCxnSpPr>
            <a:cxnSpLocks/>
            <a:stCxn id="14" idx="1"/>
          </p:cNvCxnSpPr>
          <p:nvPr/>
        </p:nvCxnSpPr>
        <p:spPr>
          <a:xfrm flipH="1">
            <a:off x="5381297" y="1828888"/>
            <a:ext cx="1072434" cy="1890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076A39D1-401B-0C44-44D8-9969365A410E}"/>
              </a:ext>
            </a:extLst>
          </p:cNvPr>
          <p:cNvSpPr txBox="1"/>
          <p:nvPr/>
        </p:nvSpPr>
        <p:spPr>
          <a:xfrm>
            <a:off x="7827395" y="4150936"/>
            <a:ext cx="1093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Cat </a:t>
            </a:r>
            <a:r>
              <a:rPr lang="de-DE" dirty="0" err="1"/>
              <a:t>node</a:t>
            </a:r>
            <a:endParaRPr lang="de-DE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559D46BD-099D-77F7-3113-731BA633946B}"/>
              </a:ext>
            </a:extLst>
          </p:cNvPr>
          <p:cNvSpPr txBox="1"/>
          <p:nvPr/>
        </p:nvSpPr>
        <p:spPr>
          <a:xfrm>
            <a:off x="7827395" y="2217806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Dog </a:t>
            </a:r>
            <a:r>
              <a:rPr lang="de-DE" dirty="0" err="1"/>
              <a:t>node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4">
                <a:extLst>
                  <a:ext uri="{FF2B5EF4-FFF2-40B4-BE49-F238E27FC236}">
                    <a16:creationId xmlns:a16="http://schemas.microsoft.com/office/drawing/2014/main" id="{A569BA3E-6B32-E0D5-4978-EBC6D469B1D7}"/>
                  </a:ext>
                </a:extLst>
              </p:cNvPr>
              <p:cNvSpPr txBox="1"/>
              <p:nvPr/>
            </p:nvSpPr>
            <p:spPr>
              <a:xfrm>
                <a:off x="4582656" y="5840012"/>
                <a:ext cx="1352236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DE" sz="3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e-DE" sz="3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36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de-DE" sz="36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acc>
                      <m:r>
                        <a:rPr lang="en-GB" sz="36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GB" sz="36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3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GB" sz="3600" dirty="0"/>
              </a:p>
            </p:txBody>
          </p:sp>
        </mc:Choice>
        <mc:Fallback xmlns="">
          <p:sp>
            <p:nvSpPr>
              <p:cNvPr id="18" name="TextBox 4">
                <a:extLst>
                  <a:ext uri="{FF2B5EF4-FFF2-40B4-BE49-F238E27FC236}">
                    <a16:creationId xmlns:a16="http://schemas.microsoft.com/office/drawing/2014/main" id="{A569BA3E-6B32-E0D5-4978-EBC6D469B1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2656" y="5840012"/>
                <a:ext cx="1352236" cy="646331"/>
              </a:xfrm>
              <a:prstGeom prst="rect">
                <a:avLst/>
              </a:prstGeom>
              <a:blipFill>
                <a:blip r:embed="rId6"/>
                <a:stretch>
                  <a:fillRect t="-25000" b="-384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5695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EC3BB-DA4A-1D74-D8EA-231AB1DC2B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Multi-Layer Perceptron (MLP)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5A87FEA-ADCC-4FB6-1C79-B5EAAC22D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DE" sz="2800" dirty="0"/>
              <a:t>fully-connected feed-forward network with at least one hidden layer</a:t>
            </a:r>
            <a:r>
              <a:rPr lang="de-DE" sz="2800" dirty="0"/>
              <a:t> (</a:t>
            </a:r>
            <a:r>
              <a:rPr lang="en-GB" sz="2800" dirty="0"/>
              <a:t>universal function approximator)</a:t>
            </a:r>
          </a:p>
          <a:p>
            <a:pPr marL="0" indent="0">
              <a:buNone/>
            </a:pPr>
            <a:endParaRPr lang="en-GB" sz="28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sz="2800" dirty="0"/>
          </a:p>
          <a:p>
            <a:pPr marL="0" indent="0">
              <a:buNone/>
            </a:pPr>
            <a:r>
              <a:rPr lang="en-GB" sz="2800" dirty="0"/>
              <a:t>toward deep learning: a</a:t>
            </a:r>
            <a:r>
              <a:rPr lang="en-DE" sz="2800" dirty="0"/>
              <a:t>d</a:t>
            </a:r>
            <a:r>
              <a:rPr lang="en-GB" sz="2800" dirty="0"/>
              <a:t>d </a:t>
            </a:r>
            <a:r>
              <a:rPr lang="en-DE" sz="2800" dirty="0"/>
              <a:t>hidden layer</a:t>
            </a:r>
            <a:r>
              <a:rPr lang="en-GB" sz="2800" dirty="0"/>
              <a:t>s</a:t>
            </a:r>
          </a:p>
          <a:p>
            <a:pPr marL="0" indent="0">
              <a:buNone/>
            </a:pPr>
            <a:r>
              <a:rPr lang="en-GB" sz="2800" dirty="0"/>
              <a:t>more layers (depth) more efficient than just more nodes (width): less parameters needed for same function complexity</a:t>
            </a:r>
            <a:endParaRPr lang="en-DE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CEF64-B4FD-6E79-66BF-8BB7A205A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13</a:t>
            </a:fld>
            <a:endParaRPr lang="en-DE"/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864DADFF-0022-9A49-52DB-82080E73F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041" y="2831293"/>
            <a:ext cx="5353917" cy="159275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75C1CCC-E1C6-1F6D-91C3-E68AC5F1EC7A}"/>
              </a:ext>
            </a:extLst>
          </p:cNvPr>
          <p:cNvSpPr txBox="1"/>
          <p:nvPr/>
        </p:nvSpPr>
        <p:spPr>
          <a:xfrm>
            <a:off x="1134436" y="3429000"/>
            <a:ext cx="218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binary classification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6F9E1C-3B72-4195-F57A-B0757B1162F7}"/>
              </a:ext>
            </a:extLst>
          </p:cNvPr>
          <p:cNvSpPr txBox="1"/>
          <p:nvPr/>
        </p:nvSpPr>
        <p:spPr>
          <a:xfrm>
            <a:off x="8875491" y="3429000"/>
            <a:ext cx="1220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regression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6379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1C7757-FA93-A479-417D-5677E7E54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Classification Networks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2FF8C85-B1D0-7DEC-1BE7-CBDB6B7949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800" dirty="0"/>
                  <a:t>cross-entropy loss (</a:t>
                </a:r>
                <a:r>
                  <a:rPr lang="en-GB" dirty="0"/>
                  <a:t>one output node for each class </a:t>
                </a:r>
                <a14:m>
                  <m:oMath xmlns:m="http://schemas.openxmlformats.org/officeDocument/2006/math">
                    <m:r>
                      <m:rPr>
                        <m:brk m:alnAt="23"/>
                      </m:rP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GB" sz="2800" dirty="0"/>
                  <a:t>):</a:t>
                </a: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800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d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8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func>
                        </m:e>
                      </m:nary>
                    </m:oMath>
                  </m:oMathPara>
                </a14:m>
                <a:endParaRPr lang="en-GB" sz="2800" dirty="0"/>
              </a:p>
              <a:p>
                <a:pPr marL="0" indent="0">
                  <a:buNone/>
                </a:pPr>
                <a:endParaRPr lang="en-GB" sz="2800" dirty="0"/>
              </a:p>
              <a:p>
                <a:pPr marL="0" indent="0">
                  <a:buNone/>
                </a:pPr>
                <a:r>
                  <a:rPr lang="en-GB" sz="2800" dirty="0"/>
                  <a:t>using </a:t>
                </a:r>
                <a:r>
                  <a:rPr lang="en-GB" sz="2800" dirty="0" err="1"/>
                  <a:t>softmax</a:t>
                </a:r>
                <a:r>
                  <a:rPr lang="en-GB" dirty="0"/>
                  <a:t> </a:t>
                </a:r>
                <a:r>
                  <a:rPr lang="en-GB" sz="2800" dirty="0"/>
                  <a:t>on output nodes: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800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GB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800" b="0" i="1" smtClean="0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e>
                                    <m:sub>
                                      <m:r>
                                        <a:rPr lang="en-US" sz="2800" b="0" i="1" smtClean="0"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GB" sz="2800" dirty="0"/>
              </a:p>
              <a:p>
                <a:pPr marL="0" indent="0">
                  <a:buNone/>
                </a:pPr>
                <a:r>
                  <a:rPr lang="en-GB" dirty="0">
                    <a:sym typeface="Wingdings" pitchFamily="2" charset="2"/>
                  </a:rPr>
                  <a:t> prediction of probabilities</a:t>
                </a:r>
                <a:endParaRPr lang="en-GB" sz="2800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02FF8C85-B1D0-7DEC-1BE7-CBDB6B7949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837" b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4C249B9-026E-6310-758E-108DB4EEF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D2667B-07C7-4036-B7F6-5D6591930EEE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62947B6C-725A-FA1F-F4C7-7C4023868E8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857460" y="3316340"/>
                <a:ext cx="3496340" cy="299555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600" dirty="0"/>
                  <a:t>regression networks:</a:t>
                </a:r>
              </a:p>
              <a:p>
                <a:r>
                  <a:rPr lang="en-GB" sz="2600" dirty="0"/>
                  <a:t>squared error loss: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  <m:r>
                          <a:rPr lang="en-US" sz="240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sz="2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GB" sz="2600" dirty="0"/>
              </a:p>
              <a:p>
                <a:r>
                  <a:rPr lang="en-GB" sz="2600" dirty="0"/>
                  <a:t>just one output node</a:t>
                </a:r>
              </a:p>
              <a:p>
                <a:r>
                  <a:rPr lang="en-GB" sz="2600" dirty="0"/>
                  <a:t>no function on output </a:t>
                </a:r>
                <a:r>
                  <a:rPr lang="en-GB" sz="2600" dirty="0">
                    <a:sym typeface="Wingdings" pitchFamily="2" charset="2"/>
                  </a:rPr>
                  <a:t> prediction of real numbers</a:t>
                </a:r>
                <a:endParaRPr lang="en-GB" sz="2600" dirty="0"/>
              </a:p>
            </p:txBody>
          </p:sp>
        </mc:Choice>
        <mc:Fallback xmlns="">
          <p:sp>
            <p:nvSpPr>
              <p:cNvPr id="11" name="Content Placeholder 10">
                <a:extLst>
                  <a:ext uri="{FF2B5EF4-FFF2-40B4-BE49-F238E27FC236}">
                    <a16:creationId xmlns:a16="http://schemas.microsoft.com/office/drawing/2014/main" id="{62947B6C-725A-FA1F-F4C7-7C4023868E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460" y="3316340"/>
                <a:ext cx="3496340" cy="2995559"/>
              </a:xfrm>
              <a:prstGeom prst="rect">
                <a:avLst/>
              </a:prstGeom>
              <a:blipFill>
                <a:blip r:embed="rId3"/>
                <a:stretch>
                  <a:fillRect l="-2888" t="-2941" r="-4332" b="-420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36864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171007-FD0E-E778-1CE5-418F7172B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>
                <a:latin typeface="+mj-lt"/>
                <a:ea typeface="+mj-ea"/>
                <a:cs typeface="+mj-cs"/>
              </a:rPr>
              <a:t>Training with Labeled Images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3B53B5F-B921-A917-AAE3-E752CF373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  <p:pic>
        <p:nvPicPr>
          <p:cNvPr id="19" name="Grafik 18" descr="Ein Bild, das Collage, Säugetier, Fotomontage, Mosaik enthält.&#10;&#10;KI-generierte Inhalte können fehlerhaft sein.">
            <a:extLst>
              <a:ext uri="{FF2B5EF4-FFF2-40B4-BE49-F238E27FC236}">
                <a16:creationId xmlns:a16="http://schemas.microsoft.com/office/drawing/2014/main" id="{D2AE7399-08DA-69F6-99A3-9B8387A657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185" y="2226974"/>
            <a:ext cx="4349837" cy="3977211"/>
          </a:xfrm>
          <a:prstGeom prst="rect">
            <a:avLst/>
          </a:prstGeom>
        </p:spPr>
      </p:pic>
      <p:pic>
        <p:nvPicPr>
          <p:cNvPr id="21" name="Grafik 20" descr="Ein Bild, das Kreis, Reihe, Diagramm, Entwurf enthält.&#10;&#10;KI-generierte Inhalte können fehlerhaft sein.">
            <a:extLst>
              <a:ext uri="{FF2B5EF4-FFF2-40B4-BE49-F238E27FC236}">
                <a16:creationId xmlns:a16="http://schemas.microsoft.com/office/drawing/2014/main" id="{5E2ABDC6-A7EB-D4A3-5989-EA4D635CAB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1740" y="3690577"/>
            <a:ext cx="1949907" cy="1043773"/>
          </a:xfrm>
          <a:prstGeom prst="rect">
            <a:avLst/>
          </a:prstGeom>
        </p:spPr>
      </p:pic>
      <p:sp>
        <p:nvSpPr>
          <p:cNvPr id="22" name="Pfeil nach rechts 21">
            <a:extLst>
              <a:ext uri="{FF2B5EF4-FFF2-40B4-BE49-F238E27FC236}">
                <a16:creationId xmlns:a16="http://schemas.microsoft.com/office/drawing/2014/main" id="{CBD20FF6-3B6E-D28F-76A3-1868D0AB2D8D}"/>
              </a:ext>
            </a:extLst>
          </p:cNvPr>
          <p:cNvSpPr/>
          <p:nvPr/>
        </p:nvSpPr>
        <p:spPr>
          <a:xfrm>
            <a:off x="5573633" y="4023277"/>
            <a:ext cx="504496" cy="3783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19A5B56-3050-EA3B-8C9F-7BDE5357A892}"/>
              </a:ext>
            </a:extLst>
          </p:cNvPr>
          <p:cNvCxnSpPr>
            <a:cxnSpLocks/>
          </p:cNvCxnSpPr>
          <p:nvPr/>
        </p:nvCxnSpPr>
        <p:spPr>
          <a:xfrm>
            <a:off x="6300725" y="3486807"/>
            <a:ext cx="2118061" cy="0"/>
          </a:xfrm>
          <a:prstGeom prst="straightConnector1">
            <a:avLst/>
          </a:prstGeom>
          <a:ln w="28575"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D77A82EA-7682-8CE0-A0D3-3E164D500740}"/>
              </a:ext>
            </a:extLst>
          </p:cNvPr>
          <p:cNvSpPr txBox="1"/>
          <p:nvPr/>
        </p:nvSpPr>
        <p:spPr>
          <a:xfrm>
            <a:off x="6253288" y="3025142"/>
            <a:ext cx="19034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forward</a:t>
            </a:r>
            <a:r>
              <a:rPr lang="de-DE" sz="2400" dirty="0"/>
              <a:t> pass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34F8174E-3321-8F6D-89AE-7834A1A39BE0}"/>
              </a:ext>
            </a:extLst>
          </p:cNvPr>
          <p:cNvSpPr txBox="1"/>
          <p:nvPr/>
        </p:nvSpPr>
        <p:spPr>
          <a:xfrm>
            <a:off x="8731647" y="3266484"/>
            <a:ext cx="168886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predictions</a:t>
            </a:r>
            <a:endParaRPr lang="de-DE" sz="2400" dirty="0"/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E71A0CA8-D271-2FFC-9F93-17682E347EC2}"/>
              </a:ext>
            </a:extLst>
          </p:cNvPr>
          <p:cNvSpPr txBox="1"/>
          <p:nvPr/>
        </p:nvSpPr>
        <p:spPr>
          <a:xfrm>
            <a:off x="56919" y="2234619"/>
            <a:ext cx="9316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label</a:t>
            </a:r>
            <a:r>
              <a:rPr lang="de-DE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1773861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9AC17-F3D4-21DE-5081-DC5599AC5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D395F3-CB14-3F23-75D8-C8B11DEC6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>
                <a:latin typeface="+mj-lt"/>
                <a:ea typeface="+mj-ea"/>
                <a:cs typeface="+mj-cs"/>
              </a:rPr>
              <a:t>Training with Labeled Images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EE6138-FC91-FA81-0CAF-00A7545D6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p:pic>
        <p:nvPicPr>
          <p:cNvPr id="19" name="Grafik 18" descr="Ein Bild, das Collage, Säugetier, Fotomontage, Mosaik enthält.&#10;&#10;KI-generierte Inhalte können fehlerhaft sein.">
            <a:extLst>
              <a:ext uri="{FF2B5EF4-FFF2-40B4-BE49-F238E27FC236}">
                <a16:creationId xmlns:a16="http://schemas.microsoft.com/office/drawing/2014/main" id="{69BAF26C-F723-BD3D-E67A-B2ABD9C30B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185" y="2226974"/>
            <a:ext cx="4349837" cy="3977211"/>
          </a:xfrm>
          <a:prstGeom prst="rect">
            <a:avLst/>
          </a:prstGeom>
        </p:spPr>
      </p:pic>
      <p:pic>
        <p:nvPicPr>
          <p:cNvPr id="21" name="Grafik 20" descr="Ein Bild, das Kreis, Reihe, Diagramm, Entwurf enthält.&#10;&#10;KI-generierte Inhalte können fehlerhaft sein.">
            <a:extLst>
              <a:ext uri="{FF2B5EF4-FFF2-40B4-BE49-F238E27FC236}">
                <a16:creationId xmlns:a16="http://schemas.microsoft.com/office/drawing/2014/main" id="{6F8198F3-40B5-D93A-2142-6E005A4A65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1740" y="3690577"/>
            <a:ext cx="1949907" cy="1043773"/>
          </a:xfrm>
          <a:prstGeom prst="rect">
            <a:avLst/>
          </a:prstGeom>
        </p:spPr>
      </p:pic>
      <p:sp>
        <p:nvSpPr>
          <p:cNvPr id="22" name="Pfeil nach rechts 21">
            <a:extLst>
              <a:ext uri="{FF2B5EF4-FFF2-40B4-BE49-F238E27FC236}">
                <a16:creationId xmlns:a16="http://schemas.microsoft.com/office/drawing/2014/main" id="{E42E449C-67DB-8584-DEAE-3B04AF96DD26}"/>
              </a:ext>
            </a:extLst>
          </p:cNvPr>
          <p:cNvSpPr/>
          <p:nvPr/>
        </p:nvSpPr>
        <p:spPr>
          <a:xfrm>
            <a:off x="5573633" y="4023277"/>
            <a:ext cx="504496" cy="3783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0010D13-D027-B9B5-7FEF-51218D804947}"/>
              </a:ext>
            </a:extLst>
          </p:cNvPr>
          <p:cNvCxnSpPr>
            <a:cxnSpLocks/>
          </p:cNvCxnSpPr>
          <p:nvPr/>
        </p:nvCxnSpPr>
        <p:spPr>
          <a:xfrm>
            <a:off x="6300725" y="3486807"/>
            <a:ext cx="2118061" cy="0"/>
          </a:xfrm>
          <a:prstGeom prst="straightConnector1">
            <a:avLst/>
          </a:prstGeom>
          <a:ln w="28575"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0CC32E73-7EBD-5C4C-3BB0-D561042E089F}"/>
              </a:ext>
            </a:extLst>
          </p:cNvPr>
          <p:cNvSpPr txBox="1"/>
          <p:nvPr/>
        </p:nvSpPr>
        <p:spPr>
          <a:xfrm>
            <a:off x="6253288" y="3025142"/>
            <a:ext cx="19034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forward</a:t>
            </a:r>
            <a:r>
              <a:rPr lang="de-DE" sz="2400" dirty="0"/>
              <a:t> pass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5B4AAD99-1AC7-FD6E-B3BE-8D556B75C3F9}"/>
              </a:ext>
            </a:extLst>
          </p:cNvPr>
          <p:cNvSpPr txBox="1"/>
          <p:nvPr/>
        </p:nvSpPr>
        <p:spPr>
          <a:xfrm>
            <a:off x="8731647" y="3266484"/>
            <a:ext cx="168886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predictions</a:t>
            </a:r>
            <a:endParaRPr lang="de-DE" sz="2400" dirty="0"/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A46E0917-DD77-C76F-99B3-BF17D1143C86}"/>
              </a:ext>
            </a:extLst>
          </p:cNvPr>
          <p:cNvSpPr txBox="1"/>
          <p:nvPr/>
        </p:nvSpPr>
        <p:spPr>
          <a:xfrm>
            <a:off x="56919" y="2234619"/>
            <a:ext cx="9316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label</a:t>
            </a:r>
            <a:r>
              <a:rPr lang="de-DE" sz="2400" dirty="0"/>
              <a:t>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BB6DC7E-7EB1-79A1-604C-6C577C428B89}"/>
              </a:ext>
            </a:extLst>
          </p:cNvPr>
          <p:cNvSpPr txBox="1"/>
          <p:nvPr/>
        </p:nvSpPr>
        <p:spPr>
          <a:xfrm>
            <a:off x="6300725" y="4993037"/>
            <a:ext cx="24309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backpropagation</a:t>
            </a:r>
            <a:endParaRPr lang="de-DE" sz="2400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A6092377-2AAF-0C37-0C86-70A7B78DC5A2}"/>
              </a:ext>
            </a:extLst>
          </p:cNvPr>
          <p:cNvCxnSpPr>
            <a:cxnSpLocks/>
          </p:cNvCxnSpPr>
          <p:nvPr/>
        </p:nvCxnSpPr>
        <p:spPr>
          <a:xfrm>
            <a:off x="6369345" y="4982527"/>
            <a:ext cx="2118061" cy="0"/>
          </a:xfrm>
          <a:prstGeom prst="straightConnector1">
            <a:avLst/>
          </a:prstGeom>
          <a:ln w="28575"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F53AE7DE-50C7-1EE0-7854-19142AD11CE1}"/>
              </a:ext>
            </a:extLst>
          </p:cNvPr>
          <p:cNvSpPr txBox="1"/>
          <p:nvPr/>
        </p:nvSpPr>
        <p:spPr>
          <a:xfrm>
            <a:off x="8786950" y="3984747"/>
            <a:ext cx="5661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= ?</a:t>
            </a:r>
          </a:p>
        </p:txBody>
      </p:sp>
      <p:sp>
        <p:nvSpPr>
          <p:cNvPr id="7" name="Rechteckiger Pfeil 6">
            <a:extLst>
              <a:ext uri="{FF2B5EF4-FFF2-40B4-BE49-F238E27FC236}">
                <a16:creationId xmlns:a16="http://schemas.microsoft.com/office/drawing/2014/main" id="{1E05E01E-2105-52AB-974F-46678B615114}"/>
              </a:ext>
            </a:extLst>
          </p:cNvPr>
          <p:cNvSpPr/>
          <p:nvPr/>
        </p:nvSpPr>
        <p:spPr>
          <a:xfrm rot="10800000">
            <a:off x="8750113" y="4703010"/>
            <a:ext cx="420801" cy="373678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8CE63E-1383-ECEF-7817-120D00021A73}"/>
              </a:ext>
            </a:extLst>
          </p:cNvPr>
          <p:cNvSpPr txBox="1"/>
          <p:nvPr/>
        </p:nvSpPr>
        <p:spPr>
          <a:xfrm>
            <a:off x="9210112" y="4566170"/>
            <a:ext cx="27458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error</a:t>
            </a:r>
            <a:r>
              <a:rPr lang="de-DE" sz="2400" dirty="0"/>
              <a:t> </a:t>
            </a:r>
            <a:r>
              <a:rPr lang="de-DE" sz="2400" dirty="0" err="1"/>
              <a:t>measurement</a:t>
            </a:r>
            <a:endParaRPr lang="de-DE" sz="2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6AE15CD-8E45-C392-C260-198B7735B05F}"/>
              </a:ext>
            </a:extLst>
          </p:cNvPr>
          <p:cNvSpPr txBox="1"/>
          <p:nvPr/>
        </p:nvSpPr>
        <p:spPr>
          <a:xfrm>
            <a:off x="10030145" y="3981630"/>
            <a:ext cx="9925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labels</a:t>
            </a:r>
            <a:endParaRPr lang="de-DE" sz="2400" dirty="0"/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F2140026-FE32-86F0-FD3A-98389026E64F}"/>
              </a:ext>
            </a:extLst>
          </p:cNvPr>
          <p:cNvCxnSpPr>
            <a:stCxn id="9" idx="1"/>
            <a:endCxn id="6" idx="3"/>
          </p:cNvCxnSpPr>
          <p:nvPr/>
        </p:nvCxnSpPr>
        <p:spPr>
          <a:xfrm flipH="1">
            <a:off x="9353131" y="4212463"/>
            <a:ext cx="677014" cy="31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8F0B170E-D245-22AD-44F5-9A21079973AA}"/>
              </a:ext>
            </a:extLst>
          </p:cNvPr>
          <p:cNvCxnSpPr>
            <a:cxnSpLocks/>
            <a:endCxn id="6" idx="0"/>
          </p:cNvCxnSpPr>
          <p:nvPr/>
        </p:nvCxnSpPr>
        <p:spPr>
          <a:xfrm>
            <a:off x="9070041" y="3728149"/>
            <a:ext cx="0" cy="2565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DCFF9B35-B970-A546-87EE-E3132E061ADB}"/>
              </a:ext>
            </a:extLst>
          </p:cNvPr>
          <p:cNvSpPr txBox="1"/>
          <p:nvPr/>
        </p:nvSpPr>
        <p:spPr>
          <a:xfrm>
            <a:off x="9210112" y="5580993"/>
            <a:ext cx="2571985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sz="2400" dirty="0" err="1"/>
              <a:t>aim</a:t>
            </a:r>
            <a:r>
              <a:rPr lang="de-DE" sz="2400" dirty="0"/>
              <a:t>: </a:t>
            </a:r>
            <a:r>
              <a:rPr lang="de-DE" sz="2400" dirty="0" err="1"/>
              <a:t>minimization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errors</a:t>
            </a:r>
            <a:endParaRPr lang="de-DE" sz="2400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1DDC16FB-C08A-693B-FDA4-5F5434EFF91B}"/>
              </a:ext>
            </a:extLst>
          </p:cNvPr>
          <p:cNvCxnSpPr>
            <a:cxnSpLocks/>
            <a:stCxn id="12" idx="0"/>
            <a:endCxn id="8" idx="2"/>
          </p:cNvCxnSpPr>
          <p:nvPr/>
        </p:nvCxnSpPr>
        <p:spPr>
          <a:xfrm flipV="1">
            <a:off x="10496105" y="5027835"/>
            <a:ext cx="86915" cy="5531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92699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4594B-45D3-F4E7-76DF-225738CA0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Find Gradients for (Deep)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F5385-3D28-5888-81C2-6F3B696124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2425"/>
            <a:ext cx="10515600" cy="89217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b="1" dirty="0"/>
              <a:t>backpropagation</a:t>
            </a:r>
            <a:r>
              <a:rPr lang="en-GB" dirty="0"/>
              <a:t> of errors through network layers via c</a:t>
            </a:r>
            <a:r>
              <a:rPr lang="en-DE" dirty="0"/>
              <a:t>hain rule of calculus</a:t>
            </a:r>
            <a:r>
              <a:rPr lang="de-DE" dirty="0"/>
              <a:t> (</a:t>
            </a:r>
            <a:r>
              <a:rPr lang="en-DE" dirty="0">
                <a:sym typeface="Wingdings" pitchFamily="2" charset="2"/>
              </a:rPr>
              <a:t>enables learning of deep neural networks</a:t>
            </a:r>
            <a:r>
              <a:rPr lang="de-DE" dirty="0"/>
              <a:t>)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85B5A-EF49-F42E-4D35-8C58F11B8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17</a:t>
            </a:fld>
            <a:endParaRPr lang="en-DE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EF5ED658-C785-2DDE-909E-A5AC0F9AB3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074678"/>
            <a:ext cx="6513109" cy="27906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A972C6E-98A6-FAFD-CFCE-F015265C1ED3}"/>
              </a:ext>
            </a:extLst>
          </p:cNvPr>
          <p:cNvSpPr txBox="1"/>
          <p:nvPr/>
        </p:nvSpPr>
        <p:spPr>
          <a:xfrm>
            <a:off x="7546043" y="2743204"/>
            <a:ext cx="418311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/>
              <a:t>forward pass: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fix current weights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compute predictions</a:t>
            </a:r>
          </a:p>
          <a:p>
            <a:endParaRPr lang="en-GB" sz="2200" dirty="0"/>
          </a:p>
          <a:p>
            <a:r>
              <a:rPr lang="en-GB" sz="2200" dirty="0"/>
              <a:t>backward pass: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compute errors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calculate gradients (backpropagation of errors)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200" dirty="0"/>
              <a:t>update weights accordingly (gradient descent)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027094-1B21-62F7-BAE3-930302EBB261}"/>
              </a:ext>
            </a:extLst>
          </p:cNvPr>
          <p:cNvSpPr txBox="1"/>
          <p:nvPr/>
        </p:nvSpPr>
        <p:spPr>
          <a:xfrm>
            <a:off x="4094754" y="5865283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166987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C18789-C353-2030-70B0-BD20A814E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Training: Iterative Adjustment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Weights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E075F1C-7D75-5E96-69A5-69537D75F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18</a:t>
            </a:fld>
            <a:endParaRPr lang="en-GB"/>
          </a:p>
        </p:txBody>
      </p: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66B01399-740D-A17C-634D-64AE7F50A677}"/>
              </a:ext>
            </a:extLst>
          </p:cNvPr>
          <p:cNvSpPr/>
          <p:nvPr/>
        </p:nvSpPr>
        <p:spPr>
          <a:xfrm>
            <a:off x="1521380" y="1839313"/>
            <a:ext cx="5730766" cy="346841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265C0F1-D4E9-FEB3-EB6A-5A873E4D7DBD}"/>
              </a:ext>
            </a:extLst>
          </p:cNvPr>
          <p:cNvSpPr txBox="1"/>
          <p:nvPr/>
        </p:nvSpPr>
        <p:spPr>
          <a:xfrm>
            <a:off x="1521381" y="2236372"/>
            <a:ext cx="5730766" cy="2994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de-DE" sz="2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for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 </a:t>
            </a:r>
            <a:r>
              <a:rPr lang="de-DE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epoch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 </a:t>
            </a:r>
            <a:r>
              <a:rPr lang="de-DE" sz="24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in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 </a:t>
            </a:r>
            <a:r>
              <a:rPr lang="de-DE" sz="2400" b="0" dirty="0" err="1">
                <a:solidFill>
                  <a:srgbClr val="267F99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range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(</a:t>
            </a:r>
            <a:r>
              <a:rPr lang="de-DE" sz="2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epochs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):</a:t>
            </a:r>
          </a:p>
          <a:p>
            <a:pPr>
              <a:lnSpc>
                <a:spcPts val="1350"/>
              </a:lnSpc>
              <a:buNone/>
            </a:pPr>
            <a:endParaRPr lang="de-DE" sz="2400" dirty="0">
              <a:solidFill>
                <a:srgbClr val="3B3B3B"/>
              </a:solidFill>
              <a:latin typeface="Consolas" panose="020B0609020204030204" pitchFamily="49" charset="0"/>
              <a:ea typeface="Menlo" panose="020B060903080402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de-DE" sz="2400" b="0" dirty="0">
              <a:solidFill>
                <a:srgbClr val="3B3B3B"/>
              </a:solidFill>
              <a:effectLst/>
              <a:latin typeface="Consolas" panose="020B0609020204030204" pitchFamily="49" charset="0"/>
              <a:ea typeface="Menlo" panose="020B060903080402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de-DE" sz="24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	</a:t>
            </a:r>
            <a:r>
              <a:rPr lang="de-DE" sz="2400" b="0" dirty="0" err="1">
                <a:solidFill>
                  <a:srgbClr val="AF00D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for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 </a:t>
            </a:r>
            <a:r>
              <a:rPr lang="de-DE" sz="240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X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, </a:t>
            </a:r>
            <a:r>
              <a:rPr lang="de-DE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y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 </a:t>
            </a:r>
            <a:r>
              <a:rPr lang="de-DE" sz="2400" b="0" dirty="0">
                <a:solidFill>
                  <a:srgbClr val="AF00D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in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 </a:t>
            </a:r>
            <a:r>
              <a:rPr lang="de-DE" sz="2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mini_batches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:</a:t>
            </a:r>
          </a:p>
          <a:p>
            <a:pPr>
              <a:lnSpc>
                <a:spcPts val="1350"/>
              </a:lnSpc>
              <a:buNone/>
            </a:pPr>
            <a:endParaRPr lang="de-DE" sz="2400" dirty="0">
              <a:solidFill>
                <a:srgbClr val="001080"/>
              </a:solidFill>
              <a:latin typeface="Consolas" panose="020B0609020204030204" pitchFamily="49" charset="0"/>
              <a:ea typeface="Menlo" panose="020B060903080402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de-DE" sz="2400" b="0" dirty="0">
              <a:solidFill>
                <a:srgbClr val="001080"/>
              </a:solidFill>
              <a:effectLst/>
              <a:latin typeface="Consolas" panose="020B0609020204030204" pitchFamily="49" charset="0"/>
              <a:ea typeface="Menlo" panose="020B060903080402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de-DE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		</a:t>
            </a:r>
            <a:r>
              <a:rPr lang="de-DE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pred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 </a:t>
            </a:r>
            <a:r>
              <a:rPr lang="de-DE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=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 </a:t>
            </a:r>
            <a:r>
              <a:rPr lang="de-DE" sz="2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model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(</a:t>
            </a:r>
            <a:r>
              <a:rPr lang="de-DE" sz="2400" b="0" dirty="0">
                <a:solidFill>
                  <a:srgbClr val="0070C1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X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)</a:t>
            </a:r>
          </a:p>
          <a:p>
            <a:pPr>
              <a:lnSpc>
                <a:spcPts val="1350"/>
              </a:lnSpc>
              <a:buNone/>
            </a:pPr>
            <a:endParaRPr lang="de-DE" sz="2400" dirty="0">
              <a:solidFill>
                <a:srgbClr val="001080"/>
              </a:solidFill>
              <a:latin typeface="Consolas" panose="020B0609020204030204" pitchFamily="49" charset="0"/>
              <a:ea typeface="Menlo" panose="020B060903080402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de-DE" sz="2400" b="0" dirty="0">
              <a:solidFill>
                <a:srgbClr val="001080"/>
              </a:solidFill>
              <a:effectLst/>
              <a:latin typeface="Consolas" panose="020B0609020204030204" pitchFamily="49" charset="0"/>
              <a:ea typeface="Menlo" panose="020B060903080402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de-DE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		</a:t>
            </a:r>
            <a:r>
              <a:rPr lang="de-DE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cost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 </a:t>
            </a:r>
            <a:r>
              <a:rPr lang="de-DE" sz="2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=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 </a:t>
            </a:r>
            <a:r>
              <a:rPr lang="de-DE" sz="2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loss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(</a:t>
            </a:r>
            <a:r>
              <a:rPr lang="de-DE" sz="2400" dirty="0" err="1">
                <a:solidFill>
                  <a:srgbClr val="001080"/>
                </a:solidFill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pred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, </a:t>
            </a:r>
            <a:r>
              <a:rPr lang="de-DE" sz="2400" b="0" dirty="0" err="1">
                <a:solidFill>
                  <a:srgbClr val="001080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y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)</a:t>
            </a:r>
          </a:p>
          <a:p>
            <a:pPr>
              <a:lnSpc>
                <a:spcPts val="1350"/>
              </a:lnSpc>
              <a:buNone/>
            </a:pPr>
            <a:endParaRPr lang="de-DE" sz="2400" b="0" dirty="0">
              <a:solidFill>
                <a:srgbClr val="001080"/>
              </a:solidFill>
              <a:effectLst/>
              <a:latin typeface="Consolas" panose="020B0609020204030204" pitchFamily="49" charset="0"/>
              <a:ea typeface="Menlo" panose="020B060903080402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de-DE" sz="2400" b="0" dirty="0">
              <a:solidFill>
                <a:srgbClr val="001080"/>
              </a:solidFill>
              <a:effectLst/>
              <a:latin typeface="Consolas" panose="020B0609020204030204" pitchFamily="49" charset="0"/>
              <a:ea typeface="Menlo" panose="020B060903080402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de-DE" sz="2400" b="0" dirty="0">
                <a:solidFill>
                  <a:srgbClr val="001080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		</a:t>
            </a:r>
            <a:r>
              <a:rPr lang="de-DE" sz="2400" dirty="0" err="1">
                <a:solidFill>
                  <a:srgbClr val="001080"/>
                </a:solidFill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cost</a:t>
            </a:r>
            <a:r>
              <a:rPr lang="de-DE" sz="2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.backward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()</a:t>
            </a:r>
          </a:p>
          <a:p>
            <a:pPr>
              <a:lnSpc>
                <a:spcPts val="1350"/>
              </a:lnSpc>
              <a:buNone/>
            </a:pPr>
            <a:endParaRPr lang="de-DE" sz="2400" b="0" dirty="0">
              <a:solidFill>
                <a:srgbClr val="3B3B3B"/>
              </a:solidFill>
              <a:effectLst/>
              <a:latin typeface="Consolas" panose="020B0609020204030204" pitchFamily="49" charset="0"/>
              <a:ea typeface="Menlo" panose="020B060903080402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</a:pPr>
            <a:endParaRPr lang="de-DE" sz="2400" b="0" dirty="0">
              <a:solidFill>
                <a:srgbClr val="3B3B3B"/>
              </a:solidFill>
              <a:effectLst/>
              <a:latin typeface="Consolas" panose="020B0609020204030204" pitchFamily="49" charset="0"/>
              <a:ea typeface="Menlo" panose="020B0609030804020204" pitchFamily="49" charset="0"/>
              <a:cs typeface="Consolas" panose="020B0609020204030204" pitchFamily="49" charset="0"/>
            </a:endParaRPr>
          </a:p>
          <a:p>
            <a:pPr>
              <a:lnSpc>
                <a:spcPts val="1350"/>
              </a:lnSpc>
            </a:pP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		</a:t>
            </a:r>
            <a:r>
              <a:rPr lang="de-DE" sz="2400" b="0" dirty="0" err="1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optimizer.step</a:t>
            </a:r>
            <a:r>
              <a:rPr lang="de-DE" sz="2400" b="0" dirty="0">
                <a:solidFill>
                  <a:srgbClr val="3B3B3B"/>
                </a:solidFill>
                <a:effectLst/>
                <a:latin typeface="Consolas" panose="020B0609020204030204" pitchFamily="49" charset="0"/>
                <a:ea typeface="Menlo" panose="020B0609030804020204" pitchFamily="49" charset="0"/>
                <a:cs typeface="Consolas" panose="020B0609020204030204" pitchFamily="49" charset="0"/>
              </a:rPr>
              <a:t>()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E9399D-9215-10FF-1EEE-007A91A2F6EC}"/>
              </a:ext>
            </a:extLst>
          </p:cNvPr>
          <p:cNvSpPr txBox="1"/>
          <p:nvPr/>
        </p:nvSpPr>
        <p:spPr>
          <a:xfrm>
            <a:off x="1559764" y="5999076"/>
            <a:ext cx="5229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one</a:t>
            </a:r>
            <a:r>
              <a:rPr lang="de-DE" sz="2400" dirty="0"/>
              <a:t> </a:t>
            </a:r>
            <a:r>
              <a:rPr lang="de-DE" sz="2400" dirty="0" err="1"/>
              <a:t>step</a:t>
            </a:r>
            <a:r>
              <a:rPr lang="de-DE" sz="2400" dirty="0"/>
              <a:t> in </a:t>
            </a:r>
            <a:r>
              <a:rPr lang="de-DE" sz="2400" dirty="0" err="1"/>
              <a:t>direction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steepest</a:t>
            </a:r>
            <a:r>
              <a:rPr lang="de-DE" sz="2400" dirty="0"/>
              <a:t> </a:t>
            </a:r>
            <a:r>
              <a:rPr lang="de-DE" sz="2400" dirty="0" err="1"/>
              <a:t>descent</a:t>
            </a:r>
            <a:r>
              <a:rPr lang="de-DE" sz="2400" dirty="0"/>
              <a:t>: (</a:t>
            </a:r>
            <a:r>
              <a:rPr lang="de-DE" sz="2400" dirty="0" err="1"/>
              <a:t>stochastic</a:t>
            </a:r>
            <a:r>
              <a:rPr lang="de-DE" sz="2400" dirty="0"/>
              <a:t>) </a:t>
            </a:r>
            <a:r>
              <a:rPr lang="de-DE" sz="2400" dirty="0" err="1"/>
              <a:t>gradient</a:t>
            </a:r>
            <a:r>
              <a:rPr lang="de-DE" sz="2400" dirty="0"/>
              <a:t> </a:t>
            </a:r>
            <a:r>
              <a:rPr lang="de-DE" sz="2400" dirty="0" err="1"/>
              <a:t>descent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CB92962-CDE7-BAFD-A494-450CA0A94BD4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4174726" y="5184674"/>
            <a:ext cx="733614" cy="8144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813A11E1-B1E8-7CC4-C64A-07ECE42F5B01}"/>
              </a:ext>
            </a:extLst>
          </p:cNvPr>
          <p:cNvSpPr txBox="1"/>
          <p:nvPr/>
        </p:nvSpPr>
        <p:spPr>
          <a:xfrm>
            <a:off x="8229605" y="2352380"/>
            <a:ext cx="30399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quantification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error</a:t>
            </a:r>
            <a:r>
              <a:rPr lang="de-DE" sz="2400" dirty="0"/>
              <a:t> (</a:t>
            </a:r>
            <a:r>
              <a:rPr lang="de-DE" sz="2400" dirty="0" err="1"/>
              <a:t>here</a:t>
            </a:r>
            <a:r>
              <a:rPr lang="de-DE" sz="2400" dirty="0"/>
              <a:t>: </a:t>
            </a:r>
            <a:r>
              <a:rPr lang="de-DE" sz="2400" dirty="0" err="1"/>
              <a:t>cross</a:t>
            </a:r>
            <a:r>
              <a:rPr lang="de-DE" sz="2400" dirty="0"/>
              <a:t> </a:t>
            </a:r>
            <a:r>
              <a:rPr lang="de-DE" sz="2400" dirty="0" err="1"/>
              <a:t>entropy</a:t>
            </a:r>
            <a:r>
              <a:rPr lang="de-DE" sz="2400" dirty="0"/>
              <a:t>)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0B37010-E779-085B-E606-949CE1B13D87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5213133" y="2767879"/>
            <a:ext cx="3016472" cy="1050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DFC8BDE6-C616-FE79-D6D7-CC60B4EA80EB}"/>
              </a:ext>
            </a:extLst>
          </p:cNvPr>
          <p:cNvSpPr txBox="1"/>
          <p:nvPr/>
        </p:nvSpPr>
        <p:spPr>
          <a:xfrm>
            <a:off x="8145521" y="4399844"/>
            <a:ext cx="312398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chain</a:t>
            </a:r>
            <a:r>
              <a:rPr lang="de-DE" sz="2400" dirty="0"/>
              <a:t> </a:t>
            </a:r>
            <a:r>
              <a:rPr lang="de-DE" sz="2400" dirty="0" err="1"/>
              <a:t>rule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calculate</a:t>
            </a:r>
            <a:r>
              <a:rPr lang="de-DE" sz="2400" dirty="0"/>
              <a:t> </a:t>
            </a:r>
            <a:r>
              <a:rPr lang="de-DE" sz="2400" dirty="0" err="1"/>
              <a:t>gradient</a:t>
            </a:r>
            <a:r>
              <a:rPr lang="de-DE" sz="2400" dirty="0"/>
              <a:t> (</a:t>
            </a:r>
            <a:r>
              <a:rPr lang="de-DE" sz="2400" dirty="0" err="1"/>
              <a:t>direction</a:t>
            </a:r>
            <a:r>
              <a:rPr lang="de-DE" sz="2400" dirty="0"/>
              <a:t>)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cost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respect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weights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007C544-EB1C-ED8D-0A81-898A4C056171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5906818" y="4603534"/>
            <a:ext cx="2238703" cy="581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36704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93E3D-5B4B-1178-00FF-8378A9DE4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Example WOLOG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B67C2E-3F17-C1FC-1CC8-D115C12182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7387701" cy="4351338"/>
              </a:xfrm>
            </p:spPr>
            <p:txBody>
              <a:bodyPr>
                <a:normAutofit fontScale="92500"/>
              </a:bodyPr>
              <a:lstStyle/>
              <a:p>
                <a:r>
                  <a:rPr lang="en-DE" sz="2400" dirty="0"/>
                  <a:t>regression (</a:t>
                </a:r>
                <a:r>
                  <a:rPr lang="en-GB" sz="2400" dirty="0"/>
                  <a:t>s</a:t>
                </a:r>
                <a:r>
                  <a:rPr lang="en-DE" sz="2400" dirty="0"/>
                  <a:t>quared error loss, identity output function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DE" sz="2400" dirty="0"/>
                  <a:t>)</a:t>
                </a:r>
              </a:p>
              <a:p>
                <a:r>
                  <a:rPr lang="en-DE" sz="2400" dirty="0"/>
                  <a:t>with one hidden layer (</a:t>
                </a:r>
                <a14:m>
                  <m:oMath xmlns:m="http://schemas.openxmlformats.org/officeDocument/2006/math">
                    <m:r>
                      <a:rPr lang="de-DE" sz="24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DE" sz="2400" dirty="0"/>
                  <a:t>: </a:t>
                </a:r>
                <a14:m>
                  <m:oMath xmlns:m="http://schemas.openxmlformats.org/officeDocument/2006/math">
                    <m:r>
                      <a:rPr lang="en-DE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  <m:r>
                      <a:rPr lang="de-DE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DE" sz="2400" dirty="0"/>
                  <a:t>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de-DE" sz="24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𝜶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DE" sz="2400" dirty="0"/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c</a:t>
                </a:r>
                <a:r>
                  <a:rPr lang="en-DE" sz="2400" dirty="0"/>
                  <a:t>ost function: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de-DE" sz="2400" b="1" i="1" smtClean="0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r>
                                        <a:rPr lang="en-DE" sz="2400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sz="2400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𝜶</m:t>
                                      </m:r>
                                      <m:r>
                                        <a:rPr lang="de-DE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𝜷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B67C2E-3F17-C1FC-1CC8-D115C12182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7387701" cy="4351338"/>
              </a:xfrm>
              <a:blipFill>
                <a:blip r:embed="rId2"/>
                <a:stretch>
                  <a:fillRect l="-858" t="-9593" b="-3720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40B55-C1C2-0758-4447-08332B306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19</a:t>
            </a:fld>
            <a:endParaRPr lang="en-DE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F8C558C-1318-C74C-1633-2EB2F435A0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01303" y="2145534"/>
            <a:ext cx="4361793" cy="290786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D1C7BA6-C456-655D-314F-7926C4E799F7}"/>
                  </a:ext>
                </a:extLst>
              </p:cNvPr>
              <p:cNvSpPr txBox="1"/>
              <p:nvPr/>
            </p:nvSpPr>
            <p:spPr>
              <a:xfrm>
                <a:off x="11208347" y="3439945"/>
                <a:ext cx="1867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D1C7BA6-C456-655D-314F-7926C4E79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08347" y="3439945"/>
                <a:ext cx="186718" cy="276999"/>
              </a:xfrm>
              <a:prstGeom prst="rect">
                <a:avLst/>
              </a:prstGeom>
              <a:blipFill>
                <a:blip r:embed="rId5"/>
                <a:stretch>
                  <a:fillRect l="-31250" r="-25000" b="-2608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5477559-17D6-8F35-4B5B-F7AE11B5FD7C}"/>
                  </a:ext>
                </a:extLst>
              </p:cNvPr>
              <p:cNvSpPr txBox="1"/>
              <p:nvPr/>
            </p:nvSpPr>
            <p:spPr>
              <a:xfrm>
                <a:off x="8537030" y="3067921"/>
                <a:ext cx="27610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5477559-17D6-8F35-4B5B-F7AE11B5F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7030" y="3067921"/>
                <a:ext cx="276101" cy="276999"/>
              </a:xfrm>
              <a:prstGeom prst="rect">
                <a:avLst/>
              </a:prstGeom>
              <a:blipFill>
                <a:blip r:embed="rId6"/>
                <a:stretch>
                  <a:fillRect l="-13043" r="-4348" b="-1304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C2966F-B94B-A6B8-77AE-47DD60B4E3E2}"/>
                  </a:ext>
                </a:extLst>
              </p:cNvPr>
              <p:cNvSpPr txBox="1"/>
              <p:nvPr/>
            </p:nvSpPr>
            <p:spPr>
              <a:xfrm>
                <a:off x="8538422" y="3787273"/>
                <a:ext cx="28142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AC2966F-B94B-A6B8-77AE-47DD60B4E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422" y="3787273"/>
                <a:ext cx="281423" cy="276999"/>
              </a:xfrm>
              <a:prstGeom prst="rect">
                <a:avLst/>
              </a:prstGeom>
              <a:blipFill>
                <a:blip r:embed="rId7"/>
                <a:stretch>
                  <a:fillRect l="-13043" r="-4348" b="-1304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C53682-423F-A0D6-494C-5C6DD1BD16DB}"/>
                  </a:ext>
                </a:extLst>
              </p:cNvPr>
              <p:cNvSpPr txBox="1"/>
              <p:nvPr/>
            </p:nvSpPr>
            <p:spPr>
              <a:xfrm>
                <a:off x="9848256" y="2267274"/>
                <a:ext cx="26148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4C53682-423F-A0D6-494C-5C6DD1BD1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8256" y="2267274"/>
                <a:ext cx="261482" cy="276999"/>
              </a:xfrm>
              <a:prstGeom prst="rect">
                <a:avLst/>
              </a:prstGeom>
              <a:blipFill>
                <a:blip r:embed="rId8"/>
                <a:stretch>
                  <a:fillRect l="-9524" r="-9524" b="-1304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D132363-7E8E-389E-2D85-6B4CD365C021}"/>
                  </a:ext>
                </a:extLst>
              </p:cNvPr>
              <p:cNvSpPr txBox="1"/>
              <p:nvPr/>
            </p:nvSpPr>
            <p:spPr>
              <a:xfrm>
                <a:off x="9847985" y="3440707"/>
                <a:ext cx="2668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D132363-7E8E-389E-2D85-6B4CD365C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7985" y="3440707"/>
                <a:ext cx="266803" cy="276999"/>
              </a:xfrm>
              <a:prstGeom prst="rect">
                <a:avLst/>
              </a:prstGeom>
              <a:blipFill>
                <a:blip r:embed="rId9"/>
                <a:stretch>
                  <a:fillRect l="-9091" r="-4545" b="-1304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575FEC7-CC7B-8190-AF98-F406A6174D6E}"/>
                  </a:ext>
                </a:extLst>
              </p:cNvPr>
              <p:cNvSpPr txBox="1"/>
              <p:nvPr/>
            </p:nvSpPr>
            <p:spPr>
              <a:xfrm>
                <a:off x="9844147" y="4024591"/>
                <a:ext cx="2668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575FEC7-CC7B-8190-AF98-F406A6174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4147" y="4024591"/>
                <a:ext cx="266803" cy="276999"/>
              </a:xfrm>
              <a:prstGeom prst="rect">
                <a:avLst/>
              </a:prstGeom>
              <a:blipFill>
                <a:blip r:embed="rId10"/>
                <a:stretch>
                  <a:fillRect l="-9091" r="-4545" b="-1304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95FC261-66F1-86EE-26A8-A7E2129D11D2}"/>
                  </a:ext>
                </a:extLst>
              </p:cNvPr>
              <p:cNvSpPr txBox="1"/>
              <p:nvPr/>
            </p:nvSpPr>
            <p:spPr>
              <a:xfrm>
                <a:off x="9854658" y="4593942"/>
                <a:ext cx="2668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95FC261-66F1-86EE-26A8-A7E2129D1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4658" y="4593942"/>
                <a:ext cx="266803" cy="276999"/>
              </a:xfrm>
              <a:prstGeom prst="rect">
                <a:avLst/>
              </a:prstGeom>
              <a:blipFill>
                <a:blip r:embed="rId11"/>
                <a:stretch>
                  <a:fillRect l="-14286" r="-9524" b="-1304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489E1F-A682-C8F6-4947-161B381294B8}"/>
                  </a:ext>
                </a:extLst>
              </p:cNvPr>
              <p:cNvSpPr txBox="1"/>
              <p:nvPr/>
            </p:nvSpPr>
            <p:spPr>
              <a:xfrm>
                <a:off x="9850007" y="2854744"/>
                <a:ext cx="2668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2489E1F-A682-C8F6-4947-161B381294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0007" y="2854744"/>
                <a:ext cx="266803" cy="276999"/>
              </a:xfrm>
              <a:prstGeom prst="rect">
                <a:avLst/>
              </a:prstGeom>
              <a:blipFill>
                <a:blip r:embed="rId12"/>
                <a:stretch>
                  <a:fillRect l="-9091" r="-4545" b="-1304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4C2096B-9D35-94E8-2C46-930FE18DC461}"/>
                  </a:ext>
                </a:extLst>
              </p:cNvPr>
              <p:cNvSpPr txBox="1"/>
              <p:nvPr/>
            </p:nvSpPr>
            <p:spPr>
              <a:xfrm>
                <a:off x="10589015" y="4266901"/>
                <a:ext cx="40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4C2096B-9D35-94E8-2C46-930FE18DC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9015" y="4266901"/>
                <a:ext cx="407379" cy="369332"/>
              </a:xfrm>
              <a:prstGeom prst="rect">
                <a:avLst/>
              </a:prstGeom>
              <a:blipFill>
                <a:blip r:embed="rId13"/>
                <a:stretch>
                  <a:fillRect l="-3030" b="-1333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38CD18E-D100-2940-F230-37C94E243C19}"/>
                  </a:ext>
                </a:extLst>
              </p:cNvPr>
              <p:cNvSpPr txBox="1"/>
              <p:nvPr/>
            </p:nvSpPr>
            <p:spPr>
              <a:xfrm>
                <a:off x="9131499" y="2613611"/>
                <a:ext cx="40737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38CD18E-D100-2940-F230-37C94E243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1499" y="2613611"/>
                <a:ext cx="407379" cy="391646"/>
              </a:xfrm>
              <a:prstGeom prst="rect">
                <a:avLst/>
              </a:prstGeom>
              <a:blipFill>
                <a:blip r:embed="rId14"/>
                <a:stretch>
                  <a:fillRect r="-15152" b="-937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AA7A13A-3424-6A00-C2C9-7FEDB9D14F0B}"/>
                  </a:ext>
                </a:extLst>
              </p:cNvPr>
              <p:cNvSpPr txBox="1"/>
              <p:nvPr/>
            </p:nvSpPr>
            <p:spPr>
              <a:xfrm>
                <a:off x="9356209" y="4205130"/>
                <a:ext cx="40737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AA7A13A-3424-6A00-C2C9-7FEDB9D14F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209" y="4205130"/>
                <a:ext cx="407379" cy="391646"/>
              </a:xfrm>
              <a:prstGeom prst="rect">
                <a:avLst/>
              </a:prstGeom>
              <a:blipFill>
                <a:blip r:embed="rId15"/>
                <a:stretch>
                  <a:fillRect r="-18182" b="-967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E4AFF50-8E33-CA65-415C-2680F1B8BC20}"/>
                  </a:ext>
                </a:extLst>
              </p:cNvPr>
              <p:cNvSpPr txBox="1"/>
              <p:nvPr/>
            </p:nvSpPr>
            <p:spPr>
              <a:xfrm>
                <a:off x="8906789" y="4454743"/>
                <a:ext cx="40737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</m:oMath>
                  </m:oMathPara>
                </a14:m>
                <a:endParaRPr lang="en-DE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E4AFF50-8E33-CA65-415C-2680F1B8BC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6789" y="4454743"/>
                <a:ext cx="407379" cy="391646"/>
              </a:xfrm>
              <a:prstGeom prst="rect">
                <a:avLst/>
              </a:prstGeom>
              <a:blipFill>
                <a:blip r:embed="rId16"/>
                <a:stretch>
                  <a:fillRect r="-18182" b="-937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69A1301-E5A1-1F5D-12D2-5479A0039251}"/>
                  </a:ext>
                </a:extLst>
              </p:cNvPr>
              <p:cNvSpPr txBox="1"/>
              <p:nvPr/>
            </p:nvSpPr>
            <p:spPr>
              <a:xfrm>
                <a:off x="9328620" y="5020660"/>
                <a:ext cx="140244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DE" dirty="0"/>
                  <a:t> nodes in hidden layer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69A1301-E5A1-1F5D-12D2-5479A00392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8620" y="5020660"/>
                <a:ext cx="1402440" cy="646331"/>
              </a:xfrm>
              <a:prstGeom prst="rect">
                <a:avLst/>
              </a:prstGeom>
              <a:blipFill>
                <a:blip r:embed="rId17"/>
                <a:stretch>
                  <a:fillRect l="-3604" t="-3846" b="-13462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84CB4A-B02D-FBF1-0474-2A33B5E057C7}"/>
                  </a:ext>
                </a:extLst>
              </p:cNvPr>
              <p:cNvSpPr txBox="1"/>
              <p:nvPr/>
            </p:nvSpPr>
            <p:spPr>
              <a:xfrm>
                <a:off x="7757881" y="2581798"/>
                <a:ext cx="10257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DE" dirty="0"/>
                  <a:t> inputs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84CB4A-B02D-FBF1-0474-2A33B5E057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7881" y="2581798"/>
                <a:ext cx="1025726" cy="369332"/>
              </a:xfrm>
              <a:prstGeom prst="rect">
                <a:avLst/>
              </a:prstGeom>
              <a:blipFill>
                <a:blip r:embed="rId18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E672DD1C-2F8F-F5D9-B3A8-5AA6F700D2F7}"/>
              </a:ext>
            </a:extLst>
          </p:cNvPr>
          <p:cNvSpPr txBox="1"/>
          <p:nvPr/>
        </p:nvSpPr>
        <p:spPr>
          <a:xfrm>
            <a:off x="3069354" y="4266901"/>
            <a:ext cx="12503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DE" dirty="0"/>
              <a:t>ctivation function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1BC53CE-E844-0A7D-7802-381C9F6F6791}"/>
              </a:ext>
            </a:extLst>
          </p:cNvPr>
          <p:cNvCxnSpPr>
            <a:cxnSpLocks/>
            <a:stCxn id="27" idx="0"/>
          </p:cNvCxnSpPr>
          <p:nvPr/>
        </p:nvCxnSpPr>
        <p:spPr>
          <a:xfrm flipH="1" flipV="1">
            <a:off x="3465495" y="4071922"/>
            <a:ext cx="229058" cy="1949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1589C0E-43AA-2E86-494E-21C0CBEA24ED}"/>
              </a:ext>
            </a:extLst>
          </p:cNvPr>
          <p:cNvSpPr txBox="1"/>
          <p:nvPr/>
        </p:nvSpPr>
        <p:spPr>
          <a:xfrm>
            <a:off x="10003709" y="1447130"/>
            <a:ext cx="218829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</a:t>
            </a:r>
            <a:r>
              <a:rPr lang="en-DE" dirty="0"/>
              <a:t>rror measured here,</a:t>
            </a:r>
          </a:p>
          <a:p>
            <a:r>
              <a:rPr lang="en-GB" dirty="0"/>
              <a:t>but n</a:t>
            </a:r>
            <a:r>
              <a:rPr lang="en-DE" dirty="0"/>
              <a:t>ot here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213F896-A72E-0417-CBF5-F16F32F5A5AB}"/>
              </a:ext>
            </a:extLst>
          </p:cNvPr>
          <p:cNvCxnSpPr/>
          <p:nvPr/>
        </p:nvCxnSpPr>
        <p:spPr>
          <a:xfrm flipH="1">
            <a:off x="11353800" y="1770295"/>
            <a:ext cx="459828" cy="15746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BA00FED-4045-A518-AA15-3DADBF27AACE}"/>
              </a:ext>
            </a:extLst>
          </p:cNvPr>
          <p:cNvCxnSpPr>
            <a:cxnSpLocks/>
          </p:cNvCxnSpPr>
          <p:nvPr/>
        </p:nvCxnSpPr>
        <p:spPr>
          <a:xfrm flipH="1">
            <a:off x="10152760" y="2032591"/>
            <a:ext cx="639944" cy="288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1175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19D0E-27A8-3739-CA08-E7CEBFB50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Example WOLOG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D4BE74-7B1A-6775-F824-4757417F3E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557868"/>
                <a:ext cx="10820401" cy="49350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g</a:t>
                </a:r>
                <a:r>
                  <a:rPr lang="en-DE" sz="2400" dirty="0"/>
                  <a:t>radients: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=−2 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</m:oMath>
                  </m:oMathPara>
                </a14:m>
                <a:endParaRPr lang="en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den>
                      </m:f>
                      <m:r>
                        <a:rPr lang="en-US" sz="2400" i="1">
                          <a:latin typeface="Cambria Math" panose="02040503050406030204" pitchFamily="18" charset="0"/>
                        </a:rPr>
                        <m:t>=−2 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en-DE" sz="2400" dirty="0"/>
              </a:p>
              <a:p>
                <a:pPr marL="0" indent="0">
                  <a:buNone/>
                </a:pPr>
                <a:endParaRPr lang="en-GB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b</a:t>
                </a:r>
                <a:r>
                  <a:rPr lang="en-DE" sz="2400" dirty="0"/>
                  <a:t>ackpropagation equations: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e>
                    </m:d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en-DE" sz="2400" dirty="0"/>
                  <a:t>use errors of later layers to calculate errors of earlier ones</a:t>
                </a:r>
                <a:r>
                  <a:rPr lang="de-DE" sz="2400" dirty="0"/>
                  <a:t> </a:t>
                </a:r>
                <a:r>
                  <a:rPr lang="de-DE" sz="2400" dirty="0">
                    <a:sym typeface="Wingdings" panose="05000000000000000000" pitchFamily="2" charset="2"/>
                  </a:rPr>
                  <a:t>(</a:t>
                </a:r>
                <a:r>
                  <a:rPr lang="en-GB" sz="2400" dirty="0"/>
                  <a:t>avoiding redundant calculations of intermediate terms)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endParaRPr lang="en-DE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D4BE74-7B1A-6775-F824-4757417F3E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557868"/>
                <a:ext cx="10820401" cy="4935001"/>
              </a:xfrm>
              <a:blipFill>
                <a:blip r:embed="rId2"/>
                <a:stretch>
                  <a:fillRect l="-820" t="-35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35F31-AEED-1CDD-215D-1EE923C9C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20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98973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16D27-FE17-9B12-3867-57EEC7814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Using Gradients for Iterative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3C8555-6DF0-7E23-C082-267DC1253A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665661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dirty="0">
                    <a:sym typeface="Wingdings" pitchFamily="2" charset="2"/>
                  </a:rPr>
                  <a:t>u</a:t>
                </a:r>
                <a:r>
                  <a:rPr lang="en-DE" dirty="0">
                    <a:sym typeface="Wingdings" pitchFamily="2" charset="2"/>
                  </a:rPr>
                  <a:t>se gradients found via backpropagation </a:t>
                </a:r>
                <a:r>
                  <a:rPr lang="en-GB" sz="2800" dirty="0"/>
                  <a:t>to iteratively update weights (gradient descent)</a:t>
                </a:r>
                <a:r>
                  <a:rPr lang="de-DE" dirty="0"/>
                  <a:t>:</a:t>
                </a:r>
                <a:endParaRPr lang="en-DE" sz="2800" dirty="0"/>
              </a:p>
              <a:p>
                <a:pPr marL="0" indent="0">
                  <a:buNone/>
                </a:pPr>
                <a:endParaRPr lang="en-US" sz="2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+1)</m:t>
                          </m:r>
                        </m:sup>
                      </m:sSubSup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en-D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DE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DE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DE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Sup>
                                <m:sSub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                       </m:t>
                      </m:r>
                      <m:r>
                        <a:rPr lang="de-DE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𝑘𝑗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+1)</m:t>
                          </m:r>
                        </m:sup>
                      </m:sSubSup>
                      <m:r>
                        <a:rPr lang="en-US" sz="28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𝑘𝑗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>
                            <m:fPr>
                              <m:ctrlPr>
                                <a:rPr lang="en-DE" sz="2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DE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DE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DE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Sup>
                                <m:sSub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D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𝑘𝑗</m:t>
                                  </m:r>
                                </m:sub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</m:den>
                          </m:f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en-DE" dirty="0"/>
              </a:p>
              <a:p>
                <a:r>
                  <a:rPr lang="de-DE" sz="2600" dirty="0"/>
                  <a:t>adaptive learning rate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de-DE" sz="2600" dirty="0"/>
                  <a:t>: learning rate often</a:t>
                </a:r>
                <a:r>
                  <a:rPr lang="en-DE" sz="2600" dirty="0"/>
                  <a:t> adjusted per iteration</a:t>
                </a:r>
                <a:endParaRPr lang="en-GB" sz="2600" dirty="0"/>
              </a:p>
              <a:p>
                <a:r>
                  <a:rPr lang="en-GB" sz="2600" dirty="0"/>
                  <a:t>weight initialization: c</a:t>
                </a:r>
                <a:r>
                  <a:rPr lang="en-DE" sz="2600" dirty="0"/>
                  <a:t>hoose small random weights as starting values to break symmetry</a:t>
                </a:r>
                <a:r>
                  <a:rPr lang="de-DE" sz="2600" dirty="0"/>
                  <a:t> (typically using some heuristics)</a:t>
                </a:r>
                <a:endParaRPr lang="en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53C8555-6DF0-7E23-C082-267DC1253A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665661"/>
              </a:xfrm>
              <a:blipFill>
                <a:blip r:embed="rId2"/>
                <a:stretch>
                  <a:fillRect l="-1086" t="-3794" r="-108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2E38D-4E6B-D595-201A-C033ED68C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6B799-84A7-8648-BC90-ED3C95C2198D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857887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36378-B0E8-0A6A-B222-A7BCF6313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Stochastic Gradient Descent</a:t>
            </a:r>
            <a:r>
              <a:rPr lang="de-DE" dirty="0"/>
              <a:t> (SGD)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64026C-6524-7C3F-3776-92D2088973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8381"/>
                <a:ext cx="10727724" cy="4633093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weight updates: </a:t>
                </a:r>
                <a14:m>
                  <m:oMath xmlns:m="http://schemas.openxmlformats.org/officeDocument/2006/math">
                    <m:r>
                      <a:rPr lang="de-DE" sz="2600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26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600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26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6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de-DE" sz="2600" b="1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options:</a:t>
                </a:r>
              </a:p>
              <a:p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600" dirty="0">
                    <a:ea typeface="Cambria Math" panose="02040503050406030204" pitchFamily="18" charset="0"/>
                  </a:rPr>
                  <a:t>		batch gradient descent (whole training dataset)</a:t>
                </a:r>
                <a:endParaRPr lang="en-US" sz="2600" b="1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sz="2600" dirty="0"/>
                  <a:t>			stochastic gradient descent (single example)</a:t>
                </a:r>
              </a:p>
              <a:p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>
                          <m:sSubPr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GB" sz="2600" dirty="0"/>
                  <a:t>		mini-batch stochastic gradient descent</a:t>
                </a:r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endParaRPr lang="en-GB" sz="26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GB" sz="2600" dirty="0">
                    <a:sym typeface="Wingdings" pitchFamily="2" charset="2"/>
                  </a:rPr>
                  <a:t>random fluctuations of SGD help to escape saddle points</a:t>
                </a:r>
                <a:endParaRPr lang="en-GB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64026C-6524-7C3F-3776-92D2088973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8381"/>
                <a:ext cx="10727724" cy="4633093"/>
              </a:xfrm>
              <a:blipFill>
                <a:blip r:embed="rId2"/>
                <a:stretch>
                  <a:fillRect l="-1065" t="-2186" b="-273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CA4C4D-4312-989A-1FF9-58D357D6C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22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8EAC5D-631B-BA7D-C855-C118147FD865}"/>
              </a:ext>
            </a:extLst>
          </p:cNvPr>
          <p:cNvSpPr txBox="1"/>
          <p:nvPr/>
        </p:nvSpPr>
        <p:spPr>
          <a:xfrm>
            <a:off x="1421662" y="5529442"/>
            <a:ext cx="10312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mini-batch size </a:t>
            </a:r>
            <a:r>
              <a:rPr lang="en-GB" dirty="0">
                <a:sym typeface="Wingdings" pitchFamily="2" charset="2"/>
              </a:rPr>
              <a:t> </a:t>
            </a:r>
            <a:r>
              <a:rPr lang="en-GB" dirty="0" err="1">
                <a:sym typeface="Wingdings" pitchFamily="2" charset="2"/>
              </a:rPr>
              <a:t>hyperparamter</a:t>
            </a:r>
            <a:r>
              <a:rPr lang="en-GB" dirty="0">
                <a:sym typeface="Wingdings" pitchFamily="2" charset="2"/>
              </a:rPr>
              <a:t>:</a:t>
            </a:r>
            <a:r>
              <a:rPr lang="en-GB" dirty="0"/>
              <a:t> </a:t>
            </a:r>
            <a:r>
              <a:rPr lang="en-GB" dirty="0" err="1"/>
              <a:t>tradeoffs</a:t>
            </a:r>
            <a:r>
              <a:rPr lang="en-GB" dirty="0"/>
              <a:t> between runtime &amp; memory, convergence &amp; generalization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DB61C5-AEC3-8483-6A04-DA5478770F33}"/>
              </a:ext>
            </a:extLst>
          </p:cNvPr>
          <p:cNvCxnSpPr>
            <a:cxnSpLocks/>
          </p:cNvCxnSpPr>
          <p:nvPr/>
        </p:nvCxnSpPr>
        <p:spPr>
          <a:xfrm flipH="1" flipV="1">
            <a:off x="2047766" y="5273398"/>
            <a:ext cx="211958" cy="323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29C32C29-8AB0-2ECA-FB4E-8DA523D2B578}"/>
              </a:ext>
            </a:extLst>
          </p:cNvPr>
          <p:cNvSpPr txBox="1"/>
          <p:nvPr/>
        </p:nvSpPr>
        <p:spPr>
          <a:xfrm>
            <a:off x="5171094" y="1429273"/>
            <a:ext cx="1494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14B6B8E8-421B-CB4B-8CC5-BE48B6334867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5381297" y="1798605"/>
            <a:ext cx="537085" cy="3665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4D499FCD-0085-EE2A-EB85-A629D4DB691C}"/>
              </a:ext>
            </a:extLst>
          </p:cNvPr>
          <p:cNvSpPr txBox="1"/>
          <p:nvPr/>
        </p:nvSpPr>
        <p:spPr>
          <a:xfrm>
            <a:off x="3485078" y="1429273"/>
            <a:ext cx="1053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size</a:t>
            </a:r>
            <a:endParaRPr lang="de-DE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F258D82D-DC68-6B56-7868-2BCBA22A90D7}"/>
              </a:ext>
            </a:extLst>
          </p:cNvPr>
          <p:cNvCxnSpPr>
            <a:stCxn id="11" idx="2"/>
          </p:cNvCxnSpPr>
          <p:nvPr/>
        </p:nvCxnSpPr>
        <p:spPr>
          <a:xfrm>
            <a:off x="4012050" y="1798605"/>
            <a:ext cx="591481" cy="450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BAB15211-BA87-4F40-EC57-7D06B04B8407}"/>
              </a:ext>
            </a:extLst>
          </p:cNvPr>
          <p:cNvSpPr txBox="1"/>
          <p:nvPr/>
        </p:nvSpPr>
        <p:spPr>
          <a:xfrm>
            <a:off x="2468180" y="2919790"/>
            <a:ext cx="2226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all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examples</a:t>
            </a:r>
            <a:endParaRPr lang="de-DE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2327BB9-6758-F4DB-342E-9709819FC749}"/>
              </a:ext>
            </a:extLst>
          </p:cNvPr>
          <p:cNvCxnSpPr/>
          <p:nvPr/>
        </p:nvCxnSpPr>
        <p:spPr>
          <a:xfrm flipH="1">
            <a:off x="2407146" y="3248960"/>
            <a:ext cx="252248" cy="3153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6" descr="Chart, surface chart&#10;&#10;Description automatically generated">
            <a:extLst>
              <a:ext uri="{FF2B5EF4-FFF2-40B4-BE49-F238E27FC236}">
                <a16:creationId xmlns:a16="http://schemas.microsoft.com/office/drawing/2014/main" id="{01370C1A-BDF6-2D66-42AA-B7A1961FCB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8993936" y="1036621"/>
            <a:ext cx="3098960" cy="2103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564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1154B-162F-0991-56C4-5E4A38B65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E" sz="4200" dirty="0"/>
              <a:t>How to Train Deep Neural Networks</a:t>
            </a:r>
            <a:r>
              <a:rPr lang="en-GB" sz="4200" dirty="0"/>
              <a:t> Effectively</a:t>
            </a:r>
            <a:r>
              <a:rPr lang="en-DE" sz="4200" dirty="0"/>
              <a:t>?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05129EB-624A-9AE7-896C-DB35274437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o</a:t>
            </a:r>
            <a:r>
              <a:rPr lang="en-DE"/>
              <a:t>ptimization and regularization difficult</a:t>
            </a:r>
          </a:p>
          <a:p>
            <a:pPr marL="285750" indent="-285750"/>
            <a:r>
              <a:rPr lang="en-GB" dirty="0"/>
              <a:t>local vs global minima, saddle points, easily overfitting</a:t>
            </a:r>
          </a:p>
          <a:p>
            <a:pPr marL="285750" indent="-285750"/>
            <a:r>
              <a:rPr lang="en-GB" dirty="0"/>
              <a:t>many hyperparameters to tune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but many methods to get it working in practice (despite partly patchy theoretical understanding)</a:t>
            </a:r>
          </a:p>
          <a:p>
            <a:r>
              <a:rPr lang="en-GB" dirty="0"/>
              <a:t>o</a:t>
            </a:r>
            <a:r>
              <a:rPr lang="en-DE"/>
              <a:t>ptimization</a:t>
            </a:r>
            <a:r>
              <a:rPr lang="de-DE" dirty="0"/>
              <a:t>: </a:t>
            </a:r>
            <a:r>
              <a:rPr lang="en-GB" dirty="0"/>
              <a:t>activation and loss functions, weight initialization, adaptive learning rate (e.g., Adam)</a:t>
            </a:r>
            <a:r>
              <a:rPr lang="de-DE" dirty="0"/>
              <a:t>, </a:t>
            </a:r>
            <a:r>
              <a:rPr lang="de-DE" dirty="0" err="1"/>
              <a:t>learning</a:t>
            </a:r>
            <a:r>
              <a:rPr lang="de-DE" dirty="0"/>
              <a:t> rate </a:t>
            </a:r>
            <a:r>
              <a:rPr lang="de-DE" dirty="0" err="1"/>
              <a:t>schedulers</a:t>
            </a:r>
            <a:endParaRPr lang="de-DE" dirty="0"/>
          </a:p>
          <a:p>
            <a:r>
              <a:rPr lang="en-GB" dirty="0"/>
              <a:t>explicit regularization: weight decay, dropout, data augmentation</a:t>
            </a:r>
            <a:endParaRPr lang="de-DE" dirty="0"/>
          </a:p>
          <a:p>
            <a:r>
              <a:rPr lang="en-GB" dirty="0"/>
              <a:t>implicit regularization: early stopping, b</a:t>
            </a:r>
            <a:r>
              <a:rPr lang="en-DE"/>
              <a:t>atch</a:t>
            </a:r>
            <a:r>
              <a:rPr lang="de-DE" dirty="0"/>
              <a:t>/</a:t>
            </a:r>
            <a:r>
              <a:rPr lang="de-DE" dirty="0" err="1"/>
              <a:t>layer</a:t>
            </a:r>
            <a:r>
              <a:rPr lang="en-DE"/>
              <a:t> normalization</a:t>
            </a:r>
            <a:r>
              <a:rPr lang="en-GB" dirty="0"/>
              <a:t>, SGD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3474C4-A66A-50E3-84F4-12103E091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23</a:t>
            </a:fld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68BC87-1C4B-9356-A049-E4B2CE2DE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7038" y="1859338"/>
            <a:ext cx="1865475" cy="15794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1C855BA-FBA0-33F9-B380-92140ABA79D8}"/>
              </a:ext>
            </a:extLst>
          </p:cNvPr>
          <p:cNvSpPr txBox="1"/>
          <p:nvPr/>
        </p:nvSpPr>
        <p:spPr>
          <a:xfrm>
            <a:off x="9787737" y="1490006"/>
            <a:ext cx="2004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typical l</a:t>
            </a:r>
            <a:r>
              <a:rPr lang="en-DE" dirty="0"/>
              <a:t>oss surface: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23B846-9D79-7E40-3F22-42628F5E4FE8}"/>
              </a:ext>
            </a:extLst>
          </p:cNvPr>
          <p:cNvSpPr txBox="1"/>
          <p:nvPr/>
        </p:nvSpPr>
        <p:spPr>
          <a:xfrm>
            <a:off x="11189995" y="3287393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511114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06645-79A0-C463-B3C9-5CAD1177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807D1-7D12-9765-611C-3E6527F67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Gradient Descent with Momentum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49B127-C9F3-B448-BA96-B8B57FF8030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2253" y="1825625"/>
                <a:ext cx="11038490" cy="276739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algorithm:</a:t>
                </a:r>
              </a:p>
              <a:p>
                <a:r>
                  <a:rPr lang="en-GB" sz="2400" dirty="0"/>
                  <a:t>estimate gradient: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𝒈</m:t>
                    </m:r>
                    <m:r>
                      <a:rPr lang="de-DE" sz="2400" b="1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de-DE" sz="24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GB" sz="2400" b="1" i="1" dirty="0"/>
              </a:p>
              <a:p>
                <a:r>
                  <a:rPr lang="en-GB" sz="2400" dirty="0"/>
                  <a:t>compute velocity update: </a:t>
                </a:r>
                <a14:m>
                  <m:oMath xmlns:m="http://schemas.openxmlformats.org/officeDocument/2006/math"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𝒈</m:t>
                    </m:r>
                  </m:oMath>
                </a14:m>
                <a:endParaRPr lang="en-GB" sz="2400" b="1" dirty="0"/>
              </a:p>
              <a:p>
                <a:r>
                  <a:rPr lang="en-GB" sz="2400" dirty="0"/>
                  <a:t>apply weight update: </a:t>
                </a:r>
                <a14:m>
                  <m:oMath xmlns:m="http://schemas.openxmlformats.org/officeDocument/2006/math"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𝒗</m:t>
                    </m:r>
                  </m:oMath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GB" sz="2400" dirty="0">
                    <a:sym typeface="Wingdings" panose="05000000000000000000" pitchFamily="2" charset="2"/>
                  </a:rPr>
                  <a:t> no bouncing around of weights, </a:t>
                </a:r>
                <a:r>
                  <a:rPr lang="en-GB" sz="2400" dirty="0"/>
                  <a:t>escape from local minima and saddle points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49B127-C9F3-B448-BA96-B8B57FF803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2253" y="1825625"/>
                <a:ext cx="11038490" cy="2767396"/>
              </a:xfrm>
              <a:blipFill>
                <a:blip r:embed="rId2"/>
                <a:stretch>
                  <a:fillRect l="-805" t="-3196" b="-31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22AF7-2B7D-AF36-B867-4F3F7D003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24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E647773-77AB-D9E6-EB9E-5DB0C0847F54}"/>
                  </a:ext>
                </a:extLst>
              </p:cNvPr>
              <p:cNvSpPr txBox="1"/>
              <p:nvPr/>
            </p:nvSpPr>
            <p:spPr>
              <a:xfrm>
                <a:off x="5337502" y="1659941"/>
                <a:ext cx="3039239" cy="64633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h</a:t>
                </a:r>
                <a:r>
                  <a:rPr lang="en-DE" dirty="0"/>
                  <a:t>yperparameter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DE" dirty="0"/>
                  <a:t>) specifying </a:t>
                </a:r>
                <a:r>
                  <a:rPr lang="en-DE"/>
                  <a:t>exponential decay</a:t>
                </a:r>
                <a:endParaRPr lang="en-DE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E647773-77AB-D9E6-EB9E-5DB0C0847F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7502" y="1659941"/>
                <a:ext cx="3039239" cy="646331"/>
              </a:xfrm>
              <a:prstGeom prst="rect">
                <a:avLst/>
              </a:prstGeom>
              <a:blipFill>
                <a:blip r:embed="rId3"/>
                <a:stretch>
                  <a:fillRect l="-1667" t="-3846" r="-1250" b="-134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Grafik 9" descr="Ein Bild, das Screenshot, Reihe, Design enthält.&#10;&#10;KI-generierte Inhalte können fehlerhaft sein.">
            <a:extLst>
              <a:ext uri="{FF2B5EF4-FFF2-40B4-BE49-F238E27FC236}">
                <a16:creationId xmlns:a16="http://schemas.microsoft.com/office/drawing/2014/main" id="{FDE80E9D-46EB-5FD2-1B16-2D90BBE043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782615"/>
            <a:ext cx="4729655" cy="1455278"/>
          </a:xfrm>
          <a:prstGeom prst="rect">
            <a:avLst/>
          </a:prstGeom>
        </p:spPr>
      </p:pic>
      <p:pic>
        <p:nvPicPr>
          <p:cNvPr id="14" name="Grafik 13" descr="Ein Bild, das Diagramm, Reihe,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61F85CF4-4AC2-B3CB-A464-CC52F48F103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498" y="4782615"/>
            <a:ext cx="4738204" cy="1455278"/>
          </a:xfrm>
          <a:prstGeom prst="rect">
            <a:avLst/>
          </a:prstGeom>
        </p:spPr>
      </p:pic>
      <p:sp>
        <p:nvSpPr>
          <p:cNvPr id="21" name="Pfeil nach rechts 20">
            <a:extLst>
              <a:ext uri="{FF2B5EF4-FFF2-40B4-BE49-F238E27FC236}">
                <a16:creationId xmlns:a16="http://schemas.microsoft.com/office/drawing/2014/main" id="{8FDCDB60-E752-0C3C-37F5-A2A671DED98F}"/>
              </a:ext>
            </a:extLst>
          </p:cNvPr>
          <p:cNvSpPr/>
          <p:nvPr/>
        </p:nvSpPr>
        <p:spPr>
          <a:xfrm>
            <a:off x="5653304" y="5321067"/>
            <a:ext cx="502745" cy="378373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75173E2-0C88-3825-C12A-A70ECC2B4BDF}"/>
              </a:ext>
            </a:extLst>
          </p:cNvPr>
          <p:cNvCxnSpPr>
            <a:cxnSpLocks/>
          </p:cNvCxnSpPr>
          <p:nvPr/>
        </p:nvCxnSpPr>
        <p:spPr>
          <a:xfrm flipH="1">
            <a:off x="5337502" y="2306272"/>
            <a:ext cx="422163" cy="5210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36631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A97C6-75F7-5E2F-E42C-FC1B61A0E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Adaptive Learning Rate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541331-1EA8-7121-4AB9-11E120F6A2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88382"/>
                <a:ext cx="10515600" cy="4351338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better convergence by </a:t>
                </a:r>
                <a:r>
                  <a:rPr lang="en-GB" sz="2400" dirty="0"/>
                  <a:t>adapting learning rate for each weight per iteration: lower/higher learning rates for weights with large/small updates</a:t>
                </a:r>
              </a:p>
              <a:p>
                <a:pPr marL="0" indent="0">
                  <a:buNone/>
                </a:pPr>
                <a:endParaRPr lang="en-GB" sz="24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GB" sz="2400" dirty="0">
                    <a:sym typeface="Wingdings" pitchFamily="2" charset="2"/>
                  </a:rPr>
                  <a:t>popular methods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dirty="0">
                    <a:sym typeface="Wingdings" pitchFamily="2" charset="2"/>
                  </a:rPr>
                  <a:t> denotes component of gradient for </a:t>
                </a:r>
                <a:r>
                  <a:rPr lang="en-GB" sz="2400" b="1" dirty="0">
                    <a:sym typeface="Wingdings" pitchFamily="2" charset="2"/>
                  </a:rPr>
                  <a:t>individual weight</a:t>
                </a:r>
                <a:r>
                  <a:rPr lang="en-GB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):</a:t>
                </a:r>
              </a:p>
              <a:p>
                <a:r>
                  <a:rPr lang="en-DE" sz="2400" dirty="0"/>
                  <a:t>Adagrad: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←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nary>
                              <m:naryPr>
                                <m:chr m:val="∑"/>
                                <m:ctrlPr>
                                  <a:rPr lang="en-US" sz="2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  <m:e>
                                <m:sSubSup>
                                  <m:sSubSupPr>
                                    <m:ctrlPr>
                                      <a:rPr lang="en-US" sz="24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𝑔</m:t>
                                    </m:r>
                                  </m:e>
                                  <m:sub>
                                    <m:r>
                                      <a:rPr lang="de-DE" sz="2400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</m:sub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nary>
                          </m:e>
                        </m:rad>
                      </m:den>
                    </m:f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DE" sz="2400" dirty="0"/>
                  <a:t>	with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m:rPr>
                        <m:brk m:alnAt="23"/>
                      </m:rP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DE" sz="2400" dirty="0"/>
                  <a:t> denoting current and past iterations (issue: sum in denominator grows with more iterations </a:t>
                </a:r>
                <a:r>
                  <a:rPr lang="en-DE" sz="2400" dirty="0">
                    <a:sym typeface="Wingdings" pitchFamily="2" charset="2"/>
                  </a:rPr>
                  <a:t> </a:t>
                </a:r>
                <a:r>
                  <a:rPr lang="en-GB" sz="2400" dirty="0">
                    <a:sym typeface="Wingdings" pitchFamily="2" charset="2"/>
                  </a:rPr>
                  <a:t>can get</a:t>
                </a:r>
                <a:r>
                  <a:rPr lang="en-DE" sz="2400" dirty="0">
                    <a:sym typeface="Wingdings" pitchFamily="2" charset="2"/>
                  </a:rPr>
                  <a:t> stuck</a:t>
                </a:r>
                <a:r>
                  <a:rPr lang="en-DE" sz="2400" dirty="0"/>
                  <a:t>)</a:t>
                </a:r>
              </a:p>
              <a:p>
                <a:r>
                  <a:rPr lang="en-DE" sz="2400" dirty="0"/>
                  <a:t>RMSProp: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  <m:d>
                              <m:d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</m:d>
                          </m:e>
                        </m:rad>
                      </m:den>
                    </m:f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GB" sz="2400" dirty="0"/>
                  <a:t>	with	</a:t>
                </a:r>
                <a:r>
                  <a:rPr lang="en-US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d>
                    <m:sSubSup>
                      <m:sSub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GB" sz="2400" dirty="0"/>
              </a:p>
              <a:p>
                <a:r>
                  <a:rPr lang="en-GB" sz="2400" dirty="0"/>
                  <a:t>Adam (Adaptive Moment Optimization): combines </a:t>
                </a:r>
                <a:r>
                  <a:rPr lang="en-GB" sz="2400" dirty="0" err="1"/>
                  <a:t>RMSProp</a:t>
                </a:r>
                <a:r>
                  <a:rPr lang="en-GB" sz="2400" dirty="0"/>
                  <a:t> with momentum</a:t>
                </a:r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541331-1EA8-7121-4AB9-11E120F6A2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88382"/>
                <a:ext cx="10515600" cy="4351338"/>
              </a:xfrm>
              <a:blipFill>
                <a:blip r:embed="rId2"/>
                <a:stretch>
                  <a:fillRect l="-965" t="-2041" r="-132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A5DD8-3E99-5E52-3CDE-2D71C92BB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25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216730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F01E8C-398F-B5FB-5FA5-F6D70EA8F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Learning Rate </a:t>
            </a:r>
            <a:r>
              <a:rPr lang="de-DE" dirty="0" err="1"/>
              <a:t>Schedulers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B039A1C-C361-81A7-77D1-BA437C03C8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597055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DE" sz="2600"/>
                  <a:t>learning rate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de-DE" sz="2600" dirty="0"/>
                  <a:t> in </a:t>
                </a:r>
                <a:r>
                  <a:rPr lang="de-DE" sz="2600" dirty="0" err="1"/>
                  <a:t>gradient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descent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typically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set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small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value</a:t>
                </a:r>
                <a:r>
                  <a:rPr lang="de-DE" sz="2600" dirty="0"/>
                  <a:t> (e.g.,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0.001</m:t>
                    </m:r>
                  </m:oMath>
                </a14:m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use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momentum</a:t>
                </a:r>
                <a:r>
                  <a:rPr lang="de-DE" sz="2600" dirty="0"/>
                  <a:t> and adaptive </a:t>
                </a:r>
                <a:r>
                  <a:rPr lang="de-DE" sz="2600" dirty="0" err="1"/>
                  <a:t>learning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rates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improve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optimization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learning</a:t>
                </a:r>
                <a:r>
                  <a:rPr lang="de-DE" sz="2600" dirty="0"/>
                  <a:t> rate </a:t>
                </a:r>
                <a:r>
                  <a:rPr lang="de-DE" sz="2600" dirty="0" err="1"/>
                  <a:t>scheduling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further</a:t>
                </a:r>
                <a:r>
                  <a:rPr lang="de-DE" sz="2600" dirty="0"/>
                  <a:t> alternative (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used</a:t>
                </a:r>
                <a:r>
                  <a:rPr lang="de-DE" sz="2600" dirty="0"/>
                  <a:t> on top):</a:t>
                </a:r>
              </a:p>
              <a:p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certain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factor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every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given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number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epochs</a:t>
                </a:r>
                <a:endParaRPr lang="de-DE" sz="2600" dirty="0"/>
              </a:p>
              <a:p>
                <a:r>
                  <a:rPr lang="de-DE" sz="2600" dirty="0" err="1"/>
                  <a:t>reduce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when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metric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has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stopped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improving</a:t>
                </a:r>
                <a:endParaRPr lang="de-DE" sz="2600" dirty="0"/>
              </a:p>
              <a:p>
                <a:r>
                  <a:rPr lang="de-DE" sz="2600" dirty="0"/>
                  <a:t>smooth 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cosine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annealing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optionally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cyclic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restarts</a:t>
                </a:r>
                <a:r>
                  <a:rPr lang="de-DE" sz="2600" dirty="0"/>
                  <a:t>)</a:t>
                </a:r>
              </a:p>
              <a:p>
                <a:r>
                  <a:rPr lang="de-DE" sz="2600" dirty="0"/>
                  <a:t>…</a:t>
                </a:r>
              </a:p>
              <a:p>
                <a:pPr marL="0" indent="0">
                  <a:buNone/>
                </a:pPr>
                <a:endParaRPr lang="en-GB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B039A1C-C361-81A7-77D1-BA437C03C8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597055" cy="4351338"/>
              </a:xfrm>
              <a:blipFill>
                <a:blip r:embed="rId2"/>
                <a:stretch>
                  <a:fillRect l="-957" t="-2035" r="-359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4473CE-825F-2ED3-B8AD-D13A6EDD5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5351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DE598-92C7-D1ED-C57E-504928E32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Dropout in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6CBE0-02B8-41C3-1B97-186ED107F3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02128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g</a:t>
            </a:r>
            <a:r>
              <a:rPr lang="en-DE" sz="2400" dirty="0"/>
              <a:t>oal: prevent overfitting of large neural networks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randomly drop non-output nodes (along with their connections) during training (not prediction)</a:t>
            </a:r>
            <a:endParaRPr lang="en-DE" sz="2400" dirty="0"/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adaptability: regularizing each hidden node to perform well regardless of which other hidden nodes are in the model</a:t>
            </a:r>
          </a:p>
          <a:p>
            <a:pPr marL="0" indent="0">
              <a:buNone/>
            </a:pPr>
            <a:endParaRPr lang="en-GB" sz="2400" dirty="0"/>
          </a:p>
          <a:p>
            <a:r>
              <a:rPr lang="en-GB" sz="2000" dirty="0"/>
              <a:t>for each mini-batch, randomly sample independent binary masks for the nodes</a:t>
            </a:r>
          </a:p>
          <a:p>
            <a:r>
              <a:rPr lang="en-GB" sz="2000" dirty="0"/>
              <a:t>destroying extracted features rather than input values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BE9E80-BE44-BD29-3068-1C9C822F0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27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0222DD-735F-E553-C4AD-E1FB9E964C72}"/>
              </a:ext>
            </a:extLst>
          </p:cNvPr>
          <p:cNvSpPr txBox="1"/>
          <p:nvPr/>
        </p:nvSpPr>
        <p:spPr>
          <a:xfrm>
            <a:off x="11636203" y="5220036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5DC49EB6-4E3C-BD1D-AFE6-9489551CAD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328" y="2580780"/>
            <a:ext cx="4728393" cy="256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0858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35DDF-7FF2-A889-D4BB-8A54E2C57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Batch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7CAC1-B0A8-92C2-3452-AB74B587E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5398" y="3990351"/>
            <a:ext cx="5685957" cy="240732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adaptive reparameterization of inputs to network layer (before or after activation)</a:t>
            </a:r>
          </a:p>
          <a:p>
            <a:pPr marL="0" indent="0">
              <a:buNone/>
            </a:pPr>
            <a:r>
              <a:rPr lang="en-GB" sz="2400" dirty="0"/>
              <a:t>independently for each feature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(implicit) regularization eﬀect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191997-494E-2AAF-C6F6-5F98B82B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28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4ED2C2-C648-CEE3-EA1E-E052B3F3F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417" y="136525"/>
            <a:ext cx="3475621" cy="37227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576504-D693-F9BF-720C-104411398853}"/>
              </a:ext>
            </a:extLst>
          </p:cNvPr>
          <p:cNvSpPr txBox="1"/>
          <p:nvPr/>
        </p:nvSpPr>
        <p:spPr>
          <a:xfrm>
            <a:off x="11353800" y="3429000"/>
            <a:ext cx="6367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0" name="Picture 9" descr="A picture containing table&#10;&#10;Description automatically generated">
            <a:extLst>
              <a:ext uri="{FF2B5EF4-FFF2-40B4-BE49-F238E27FC236}">
                <a16:creationId xmlns:a16="http://schemas.microsoft.com/office/drawing/2014/main" id="{50625398-B3F2-60DD-47E3-AF05F1294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79" y="1790223"/>
            <a:ext cx="5685957" cy="460744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D97AA5-9CB7-75FA-29BE-77EB0B8E92C5}"/>
              </a:ext>
            </a:extLst>
          </p:cNvPr>
          <p:cNvSpPr txBox="1"/>
          <p:nvPr/>
        </p:nvSpPr>
        <p:spPr>
          <a:xfrm>
            <a:off x="5190067" y="6356350"/>
            <a:ext cx="57453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31928147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0F8CF-295B-BF64-8FAA-4FEC14F46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Early Stopping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74BFF-A44F-DA3D-9365-65CF65C67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453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loss independently measured on validation set</a:t>
            </a:r>
          </a:p>
          <a:p>
            <a:pPr marL="0" indent="0">
              <a:buNone/>
            </a:pPr>
            <a:r>
              <a:rPr lang="en-GB" sz="2600" dirty="0"/>
              <a:t>halting training when overﬁtting begins to occur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599DE-5985-B23D-D8D7-E12F3E33E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29</a:t>
            </a:fld>
            <a:endParaRPr lang="en-DE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BB9F430-1E54-F6C3-BAED-959D781F77EE}"/>
              </a:ext>
            </a:extLst>
          </p:cNvPr>
          <p:cNvGrpSpPr/>
          <p:nvPr/>
        </p:nvGrpSpPr>
        <p:grpSpPr>
          <a:xfrm>
            <a:off x="3175648" y="3227354"/>
            <a:ext cx="5840703" cy="3011242"/>
            <a:chOff x="7939004" y="4088685"/>
            <a:chExt cx="4056146" cy="2191465"/>
          </a:xfrm>
        </p:grpSpPr>
        <p:pic>
          <p:nvPicPr>
            <p:cNvPr id="6" name="Picture 5" descr="Chart&#10;&#10;Description automatically generated">
              <a:extLst>
                <a:ext uri="{FF2B5EF4-FFF2-40B4-BE49-F238E27FC236}">
                  <a16:creationId xmlns:a16="http://schemas.microsoft.com/office/drawing/2014/main" id="{23B58024-C282-B532-2D80-58645EC96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939004" y="4319752"/>
              <a:ext cx="4056146" cy="1960398"/>
            </a:xfrm>
            <a:prstGeom prst="rect">
              <a:avLst/>
            </a:prstGeom>
          </p:spPr>
        </p:pic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A8BAF09-BE45-2D54-6B52-634DCF6234C2}"/>
                </a:ext>
              </a:extLst>
            </p:cNvPr>
            <p:cNvCxnSpPr/>
            <p:nvPr/>
          </p:nvCxnSpPr>
          <p:spPr>
            <a:xfrm>
              <a:off x="8681546" y="4414345"/>
              <a:ext cx="0" cy="1512000"/>
            </a:xfrm>
            <a:prstGeom prst="line">
              <a:avLst/>
            </a:prstGeom>
            <a:ln w="1270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3A0CA3E-B524-662D-F4EE-748DC8EA0CA9}"/>
                </a:ext>
              </a:extLst>
            </p:cNvPr>
            <p:cNvSpPr txBox="1"/>
            <p:nvPr/>
          </p:nvSpPr>
          <p:spPr>
            <a:xfrm>
              <a:off x="8610600" y="4088685"/>
              <a:ext cx="1511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accent2"/>
                  </a:solidFill>
                </a:rPr>
                <a:t>e</a:t>
              </a:r>
              <a:r>
                <a:rPr lang="en-DE" dirty="0">
                  <a:solidFill>
                    <a:schemeClr val="accent2"/>
                  </a:solidFill>
                </a:rPr>
                <a:t>arly stopping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9ABA6C7F-DF95-6A7E-1CB7-270F51FC54F8}"/>
              </a:ext>
            </a:extLst>
          </p:cNvPr>
          <p:cNvSpPr txBox="1"/>
          <p:nvPr/>
        </p:nvSpPr>
        <p:spPr>
          <a:xfrm>
            <a:off x="8078082" y="605125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40938139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E13A3-1EB6-A85D-51AD-E8B4C1388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</a:t>
            </a:r>
            <a:r>
              <a:rPr lang="en-DE" dirty="0"/>
              <a:t>abular vs Unstructured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23304-D432-4E1D-29CC-0FB9D9190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Deep </a:t>
            </a:r>
            <a:r>
              <a:rPr lang="de-DE" sz="2400" dirty="0" err="1"/>
              <a:t>learning</a:t>
            </a:r>
            <a:r>
              <a:rPr lang="de-DE" sz="2400" dirty="0"/>
              <a:t> </a:t>
            </a:r>
            <a:r>
              <a:rPr lang="de-DE" sz="2400" dirty="0" err="1"/>
              <a:t>excels</a:t>
            </a:r>
            <a:r>
              <a:rPr lang="de-DE" sz="2400" dirty="0"/>
              <a:t> on </a:t>
            </a:r>
            <a:r>
              <a:rPr lang="de-DE" sz="2400" dirty="0" err="1"/>
              <a:t>unstructured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 (</a:t>
            </a:r>
            <a:r>
              <a:rPr lang="de-DE" sz="2400" dirty="0" err="1"/>
              <a:t>images</a:t>
            </a:r>
            <a:r>
              <a:rPr lang="de-DE" sz="2400" dirty="0"/>
              <a:t>, </a:t>
            </a:r>
            <a:r>
              <a:rPr lang="de-DE" sz="2400" dirty="0" err="1"/>
              <a:t>text</a:t>
            </a:r>
            <a:r>
              <a:rPr lang="de-DE" sz="2400" dirty="0"/>
              <a:t>, </a:t>
            </a:r>
            <a:r>
              <a:rPr lang="de-DE" sz="2400" dirty="0" err="1"/>
              <a:t>audio</a:t>
            </a:r>
            <a:r>
              <a:rPr lang="de-DE" sz="2400" dirty="0"/>
              <a:t>), but not </a:t>
            </a:r>
            <a:r>
              <a:rPr lang="de-DE" sz="2400" dirty="0" err="1"/>
              <a:t>necessarily</a:t>
            </a:r>
            <a:r>
              <a:rPr lang="de-DE" sz="2400" dirty="0"/>
              <a:t> on </a:t>
            </a:r>
            <a:r>
              <a:rPr lang="de-DE" sz="2400" dirty="0" err="1"/>
              <a:t>tabular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.</a:t>
            </a:r>
            <a:br>
              <a:rPr lang="de-DE" sz="2400" dirty="0"/>
            </a:b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challenges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tabular</a:t>
            </a:r>
            <a:r>
              <a:rPr lang="de-DE" sz="2400" dirty="0"/>
              <a:t> </a:t>
            </a:r>
            <a:r>
              <a:rPr lang="de-DE" sz="2400" dirty="0" err="1"/>
              <a:t>data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deep</a:t>
            </a:r>
            <a:r>
              <a:rPr lang="de-DE" sz="2400" dirty="0"/>
              <a:t> </a:t>
            </a:r>
            <a:r>
              <a:rPr lang="de-DE" sz="2400" dirty="0" err="1"/>
              <a:t>learning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heterogeneous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r>
              <a:rPr lang="de-DE" sz="2400" dirty="0"/>
              <a:t> (</a:t>
            </a:r>
            <a:r>
              <a:rPr lang="de-DE" sz="2400" dirty="0" err="1"/>
              <a:t>mixed</a:t>
            </a:r>
            <a:r>
              <a:rPr lang="de-DE" sz="2400" dirty="0"/>
              <a:t> </a:t>
            </a:r>
            <a:r>
              <a:rPr lang="de-DE" sz="2400" dirty="0" err="1"/>
              <a:t>numerical</a:t>
            </a:r>
            <a:r>
              <a:rPr lang="de-DE" sz="2400" dirty="0"/>
              <a:t>, </a:t>
            </a:r>
            <a:r>
              <a:rPr lang="de-DE" sz="2400" dirty="0" err="1"/>
              <a:t>categorical</a:t>
            </a:r>
            <a:r>
              <a:rPr lang="de-DE" sz="2400" dirty="0"/>
              <a:t>, </a:t>
            </a:r>
            <a:r>
              <a:rPr lang="de-DE" sz="2400" dirty="0" err="1"/>
              <a:t>sparse</a:t>
            </a:r>
            <a:r>
              <a:rPr lang="de-DE" sz="2400" dirty="0"/>
              <a:t> variables)</a:t>
            </a:r>
          </a:p>
          <a:p>
            <a:r>
              <a:rPr lang="de-DE" sz="2400" dirty="0"/>
              <a:t>limited </a:t>
            </a:r>
            <a:r>
              <a:rPr lang="de-DE" sz="2400" dirty="0" err="1"/>
              <a:t>benefit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feature </a:t>
            </a:r>
            <a:r>
              <a:rPr lang="de-DE" sz="2400" dirty="0" err="1"/>
              <a:t>learning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</a:t>
            </a:r>
            <a:r>
              <a:rPr lang="de-DE" sz="2400" dirty="0"/>
              <a:t> feature </a:t>
            </a:r>
            <a:r>
              <a:rPr lang="de-DE" sz="2400" dirty="0" err="1"/>
              <a:t>engineering</a:t>
            </a:r>
            <a:r>
              <a:rPr lang="de-DE" sz="2400" dirty="0"/>
              <a:t> </a:t>
            </a:r>
            <a:r>
              <a:rPr lang="de-DE" sz="2400" dirty="0" err="1"/>
              <a:t>often</a:t>
            </a:r>
            <a:r>
              <a:rPr lang="de-DE" sz="2400" dirty="0"/>
              <a:t> still </a:t>
            </a:r>
            <a:r>
              <a:rPr lang="de-DE" sz="2400" dirty="0" err="1"/>
              <a:t>required</a:t>
            </a:r>
            <a:endParaRPr lang="de-DE" sz="2400" dirty="0"/>
          </a:p>
          <a:p>
            <a:r>
              <a:rPr lang="de-DE" sz="2400" dirty="0" err="1"/>
              <a:t>weak</a:t>
            </a:r>
            <a:r>
              <a:rPr lang="de-DE" sz="2400" dirty="0"/>
              <a:t>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learning</a:t>
            </a:r>
            <a:r>
              <a:rPr lang="de-DE" sz="2400" dirty="0"/>
              <a:t> / </a:t>
            </a:r>
            <a:r>
              <a:rPr lang="de-DE" sz="2400" dirty="0" err="1"/>
              <a:t>pretraining</a:t>
            </a:r>
            <a:r>
              <a:rPr lang="de-DE" sz="2400" dirty="0"/>
              <a:t> </a:t>
            </a:r>
            <a:r>
              <a:rPr lang="de-DE" sz="2400" dirty="0" err="1"/>
              <a:t>opportunities</a:t>
            </a:r>
            <a:br>
              <a:rPr lang="de-DE" sz="2400" dirty="0"/>
            </a:br>
            <a:endParaRPr lang="de-DE" sz="2400" dirty="0"/>
          </a:p>
          <a:p>
            <a:pPr marL="0" indent="0">
              <a:buNone/>
            </a:pPr>
            <a:r>
              <a:rPr lang="de-DE" sz="2400" dirty="0"/>
              <a:t>Tree-</a:t>
            </a:r>
            <a:r>
              <a:rPr lang="de-DE" sz="2400" dirty="0" err="1"/>
              <a:t>based</a:t>
            </a:r>
            <a:r>
              <a:rPr lang="de-DE" sz="2400" dirty="0"/>
              <a:t> </a:t>
            </a:r>
            <a:r>
              <a:rPr lang="de-DE" sz="2400" dirty="0" err="1"/>
              <a:t>methods</a:t>
            </a:r>
            <a:r>
              <a:rPr lang="de-DE" sz="2400" dirty="0"/>
              <a:t> (e.g., </a:t>
            </a:r>
            <a:r>
              <a:rPr lang="de-DE" sz="2400" dirty="0" err="1"/>
              <a:t>gradient</a:t>
            </a:r>
            <a:r>
              <a:rPr lang="de-DE" sz="2400" dirty="0"/>
              <a:t> </a:t>
            </a:r>
            <a:r>
              <a:rPr lang="de-DE" sz="2400" dirty="0" err="1"/>
              <a:t>boosting</a:t>
            </a:r>
            <a:r>
              <a:rPr lang="de-DE" sz="2400" dirty="0"/>
              <a:t>) </a:t>
            </a:r>
            <a:r>
              <a:rPr lang="de-DE" sz="2400" dirty="0" err="1"/>
              <a:t>naturally</a:t>
            </a:r>
            <a:r>
              <a:rPr lang="de-DE" sz="2400" dirty="0"/>
              <a:t> handle </a:t>
            </a:r>
            <a:r>
              <a:rPr lang="de-DE" sz="2400" dirty="0" err="1"/>
              <a:t>these</a:t>
            </a:r>
            <a:r>
              <a:rPr lang="de-DE" sz="2400" dirty="0"/>
              <a:t> </a:t>
            </a:r>
            <a:r>
              <a:rPr lang="de-DE" sz="2400" dirty="0" err="1"/>
              <a:t>properties</a:t>
            </a:r>
            <a:r>
              <a:rPr lang="de-DE" sz="2400" dirty="0"/>
              <a:t> and </a:t>
            </a:r>
            <a:r>
              <a:rPr lang="de-DE" sz="2400" dirty="0" err="1"/>
              <a:t>often</a:t>
            </a:r>
            <a:r>
              <a:rPr lang="de-DE" sz="2400" dirty="0"/>
              <a:t> perform </a:t>
            </a:r>
            <a:r>
              <a:rPr lang="de-DE" sz="2400" dirty="0" err="1"/>
              <a:t>better</a:t>
            </a:r>
            <a:r>
              <a:rPr lang="de-DE" sz="2400" dirty="0"/>
              <a:t> on </a:t>
            </a:r>
            <a:r>
              <a:rPr lang="de-DE" sz="2400" dirty="0" err="1"/>
              <a:t>tabular</a:t>
            </a:r>
            <a:r>
              <a:rPr lang="de-DE" sz="2400" dirty="0"/>
              <a:t> </a:t>
            </a:r>
            <a:r>
              <a:rPr lang="de-DE" sz="2400" dirty="0" err="1"/>
              <a:t>tasks</a:t>
            </a:r>
            <a:r>
              <a:rPr lang="de-DE" sz="2400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EBEEB-7BFB-D777-A689-596798541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30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40012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7675B1F-E173-98A4-AD50-0B743B2D6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Practice Project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4DD3C46-343C-0713-2B34-80AA555042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>
              <a:hlinkClick r:id="rId2"/>
            </a:endParaRPr>
          </a:p>
          <a:p>
            <a:pPr marL="0" indent="0">
              <a:buNone/>
            </a:pPr>
            <a:endParaRPr lang="de-DE" dirty="0">
              <a:hlinkClick r:id="rId2"/>
            </a:endParaRPr>
          </a:p>
          <a:p>
            <a:pPr marL="0" indent="0">
              <a:buNone/>
            </a:pPr>
            <a:r>
              <a:rPr lang="de-DE" dirty="0">
                <a:hlinkClick r:id="rId2"/>
              </a:rPr>
              <a:t>Kaggle competition: Leaf Classification 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AD244A2-3D2F-65EC-08C2-585F58E4A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41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1668</Words>
  <Application>Microsoft Macintosh PowerPoint</Application>
  <PresentationFormat>Breitbild</PresentationFormat>
  <Paragraphs>319</Paragraphs>
  <Slides>31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Arial</vt:lpstr>
      <vt:lpstr>Cambria Math</vt:lpstr>
      <vt:lpstr>Consolas</vt:lpstr>
      <vt:lpstr>Wingdings</vt:lpstr>
      <vt:lpstr>Office Theme</vt:lpstr>
      <vt:lpstr>Deep Learning</vt:lpstr>
      <vt:lpstr>General Recipe of Statistical Learning</vt:lpstr>
      <vt:lpstr>Linear Model</vt:lpstr>
      <vt:lpstr>Loss Function</vt:lpstr>
      <vt:lpstr>Cost Function</vt:lpstr>
      <vt:lpstr>Cost Minimization</vt:lpstr>
      <vt:lpstr>Gradient Descent</vt:lpstr>
      <vt:lpstr>L^2 Regularization (Ridge Regression)</vt:lpstr>
      <vt:lpstr>Ladder of Generalization</vt:lpstr>
      <vt:lpstr>Neural Networks</vt:lpstr>
      <vt:lpstr>Artificial Neuron</vt:lpstr>
      <vt:lpstr>Neural Network as Nonlinear Function</vt:lpstr>
      <vt:lpstr>Multi-Layer Perceptron (MLP)</vt:lpstr>
      <vt:lpstr>Classification Networks</vt:lpstr>
      <vt:lpstr>Training with Labeled Images</vt:lpstr>
      <vt:lpstr>Training with Labeled Images</vt:lpstr>
      <vt:lpstr>Find Gradients for (Deep) Neural Networks</vt:lpstr>
      <vt:lpstr>Training: Iterative Adjustment of Weights</vt:lpstr>
      <vt:lpstr>Example WOLOG</vt:lpstr>
      <vt:lpstr>Example WOLOG</vt:lpstr>
      <vt:lpstr>Using Gradients for Iterative Learning</vt:lpstr>
      <vt:lpstr>Stochastic Gradient Descent (SGD)</vt:lpstr>
      <vt:lpstr>How to Train Deep Neural Networks Effectively?</vt:lpstr>
      <vt:lpstr>Gradient Descent with Momentum</vt:lpstr>
      <vt:lpstr>Adaptive Learning Rate</vt:lpstr>
      <vt:lpstr>Learning Rate Schedulers</vt:lpstr>
      <vt:lpstr>Dropout in Neural Networks</vt:lpstr>
      <vt:lpstr>Batch Normalization</vt:lpstr>
      <vt:lpstr>Early Stopping</vt:lpstr>
      <vt:lpstr>Tabular vs Unstructured Data</vt:lpstr>
      <vt:lpstr>Practice Project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57</cp:revision>
  <dcterms:created xsi:type="dcterms:W3CDTF">2025-01-09T11:24:27Z</dcterms:created>
  <dcterms:modified xsi:type="dcterms:W3CDTF">2026-05-28T16:00:37Z</dcterms:modified>
</cp:coreProperties>
</file>